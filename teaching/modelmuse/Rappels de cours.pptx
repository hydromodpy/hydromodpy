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5" r:id="rId2"/>
    <p:sldId id="266" r:id="rId3"/>
    <p:sldId id="263" r:id="rId4"/>
    <p:sldId id="264" r:id="rId5"/>
    <p:sldId id="256" r:id="rId6"/>
    <p:sldId id="257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27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1FC055-A6D3-4494-B3B5-0E3B49199609}" type="datetimeFigureOut">
              <a:rPr lang="fr-FR" smtClean="0"/>
              <a:t>12/10/2020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C550FF-477C-4468-B359-37F44EB5C4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1705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34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1034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D6B4079C-CC5F-4F07-81D9-9741423DA2A6}" type="slidenum">
              <a:rPr lang="en-CA" sz="1200" smtClean="0"/>
              <a:pPr eaLnBrk="1" hangingPunct="1"/>
              <a:t>1</a:t>
            </a:fld>
            <a:endParaRPr lang="en-CA" sz="1200" smtClean="0"/>
          </a:p>
        </p:txBody>
      </p:sp>
    </p:spTree>
    <p:extLst>
      <p:ext uri="{BB962C8B-B14F-4D97-AF65-F5344CB8AC3E}">
        <p14:creationId xmlns:p14="http://schemas.microsoft.com/office/powerpoint/2010/main" val="24741847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42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CA" smtClean="0"/>
          </a:p>
        </p:txBody>
      </p:sp>
      <p:sp>
        <p:nvSpPr>
          <p:cNvPr id="942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EDC19D7D-99D1-4366-B7F8-BF0316C1C891}" type="slidenum">
              <a:rPr lang="en-CA" sz="1200" smtClean="0"/>
              <a:pPr eaLnBrk="1" hangingPunct="1"/>
              <a:t>2</a:t>
            </a:fld>
            <a:endParaRPr lang="en-CA" sz="1200" smtClean="0"/>
          </a:p>
        </p:txBody>
      </p:sp>
    </p:spTree>
    <p:extLst>
      <p:ext uri="{BB962C8B-B14F-4D97-AF65-F5344CB8AC3E}">
        <p14:creationId xmlns:p14="http://schemas.microsoft.com/office/powerpoint/2010/main" val="1304984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289D4EB7-6ACA-4AAA-AD86-F0F3AB4F7C08}" type="slidenum">
              <a:rPr lang="en-CA" sz="1200" smtClean="0"/>
              <a:pPr eaLnBrk="1" hangingPunct="1"/>
              <a:t>3</a:t>
            </a:fld>
            <a:endParaRPr lang="en-CA" sz="1200" smtClean="0"/>
          </a:p>
        </p:txBody>
      </p:sp>
    </p:spTree>
    <p:extLst>
      <p:ext uri="{BB962C8B-B14F-4D97-AF65-F5344CB8AC3E}">
        <p14:creationId xmlns:p14="http://schemas.microsoft.com/office/powerpoint/2010/main" val="37753007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 txBox="1">
            <a:spLocks noGrp="1" noChangeArrowheads="1"/>
          </p:cNvSpPr>
          <p:nvPr/>
        </p:nvSpPr>
        <p:spPr bwMode="auto">
          <a:xfrm>
            <a:off x="5267325" y="6661150"/>
            <a:ext cx="4029075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571" tIns="48285" rIns="96571" bIns="48285" anchor="b"/>
          <a:lstStyle>
            <a:lvl1pPr defTabSz="9652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652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652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652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652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eaLnBrk="1" hangingPunct="1"/>
            <a:fld id="{B67240AB-6C9D-4C1F-932C-ABC696E4AE5F}" type="slidenum">
              <a:rPr lang="fr-FR" sz="1300"/>
              <a:pPr algn="r" eaLnBrk="1" hangingPunct="1"/>
              <a:t>4</a:t>
            </a:fld>
            <a:endParaRPr lang="fr-FR" sz="130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895600" y="527050"/>
            <a:ext cx="3506788" cy="26289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41425" y="3330575"/>
            <a:ext cx="6813550" cy="31527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6571" tIns="48285" rIns="96571" bIns="48285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385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DE40-54E9-4270-A29D-CFCBAA524945}" type="datetimeFigureOut">
              <a:rPr lang="fr-FR" smtClean="0"/>
              <a:t>12/10/2020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D9DB-32E2-45E4-B582-77FFCB42FF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8903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DE40-54E9-4270-A29D-CFCBAA524945}" type="datetimeFigureOut">
              <a:rPr lang="fr-FR" smtClean="0"/>
              <a:t>12/10/2020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D9DB-32E2-45E4-B582-77FFCB42FF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015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DE40-54E9-4270-A29D-CFCBAA524945}" type="datetimeFigureOut">
              <a:rPr lang="fr-FR" smtClean="0"/>
              <a:t>12/10/2020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D9DB-32E2-45E4-B582-77FFCB42FF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261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DE40-54E9-4270-A29D-CFCBAA524945}" type="datetimeFigureOut">
              <a:rPr lang="fr-FR" smtClean="0"/>
              <a:t>12/10/2020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D9DB-32E2-45E4-B582-77FFCB42FF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6198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DE40-54E9-4270-A29D-CFCBAA524945}" type="datetimeFigureOut">
              <a:rPr lang="fr-FR" smtClean="0"/>
              <a:t>12/10/2020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D9DB-32E2-45E4-B582-77FFCB42FF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5511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DE40-54E9-4270-A29D-CFCBAA524945}" type="datetimeFigureOut">
              <a:rPr lang="fr-FR" smtClean="0"/>
              <a:t>12/10/2020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D9DB-32E2-45E4-B582-77FFCB42FF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5075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DE40-54E9-4270-A29D-CFCBAA524945}" type="datetimeFigureOut">
              <a:rPr lang="fr-FR" smtClean="0"/>
              <a:t>12/10/2020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D9DB-32E2-45E4-B582-77FFCB42FF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8861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DE40-54E9-4270-A29D-CFCBAA524945}" type="datetimeFigureOut">
              <a:rPr lang="fr-FR" smtClean="0"/>
              <a:t>12/10/2020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D9DB-32E2-45E4-B582-77FFCB42FF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0925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DE40-54E9-4270-A29D-CFCBAA524945}" type="datetimeFigureOut">
              <a:rPr lang="fr-FR" smtClean="0"/>
              <a:t>12/10/2020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D9DB-32E2-45E4-B582-77FFCB42FF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4626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DE40-54E9-4270-A29D-CFCBAA524945}" type="datetimeFigureOut">
              <a:rPr lang="fr-FR" smtClean="0"/>
              <a:t>12/10/2020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D9DB-32E2-45E4-B582-77FFCB42FF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5250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DE40-54E9-4270-A29D-CFCBAA524945}" type="datetimeFigureOut">
              <a:rPr lang="fr-FR" smtClean="0"/>
              <a:t>12/10/2020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D9DB-32E2-45E4-B582-77FFCB42FF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8183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46DE40-54E9-4270-A29D-CFCBAA524945}" type="datetimeFigureOut">
              <a:rPr lang="fr-FR" smtClean="0"/>
              <a:t>12/10/2020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C6D9DB-32E2-45E4-B582-77FFCB42FF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1041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99" t="14999" r="15750" b="14999"/>
          <a:stretch>
            <a:fillRect/>
          </a:stretch>
        </p:blipFill>
        <p:spPr bwMode="auto">
          <a:xfrm>
            <a:off x="2809875" y="1071564"/>
            <a:ext cx="6743700" cy="534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79" name="ZoneTexte 3"/>
          <p:cNvSpPr txBox="1">
            <a:spLocks noChangeArrowheads="1"/>
          </p:cNvSpPr>
          <p:nvPr/>
        </p:nvSpPr>
        <p:spPr bwMode="auto">
          <a:xfrm>
            <a:off x="1738313" y="357188"/>
            <a:ext cx="8763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b="1">
                <a:latin typeface="Arial" pitchFamily="34" charset="0"/>
                <a:cs typeface="Arial" pitchFamily="34" charset="0"/>
              </a:rPr>
              <a:t>Regional Flow System: Geochemical Evolution (Tóth,2009)</a:t>
            </a:r>
            <a:endParaRPr lang="en-CA" b="1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401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4" descr="C:\AAA-GGL_DISK-D\Docs\Cours-LAVAL\GLG_7202_Modelisation\My_Lectures-ppt\flochart_modelling.tif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11" t="25772" r="7077" b="10237"/>
          <a:stretch>
            <a:fillRect/>
          </a:stretch>
        </p:blipFill>
        <p:spPr bwMode="auto">
          <a:xfrm>
            <a:off x="5305426" y="200026"/>
            <a:ext cx="5057775" cy="665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3" name="ZoneTexte 4"/>
          <p:cNvSpPr txBox="1">
            <a:spLocks noChangeArrowheads="1"/>
          </p:cNvSpPr>
          <p:nvPr/>
        </p:nvSpPr>
        <p:spPr bwMode="auto">
          <a:xfrm>
            <a:off x="1828800" y="533400"/>
            <a:ext cx="34671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CA" sz="2800" b="1">
                <a:latin typeface="Arial" pitchFamily="34" charset="0"/>
                <a:cs typeface="Arial" pitchFamily="34" charset="0"/>
              </a:rPr>
              <a:t>Protocol for</a:t>
            </a:r>
          </a:p>
          <a:p>
            <a:pPr eaLnBrk="1" hangingPunct="1"/>
            <a:r>
              <a:rPr lang="en-CA" sz="2800" b="1">
                <a:latin typeface="Arial" pitchFamily="34" charset="0"/>
                <a:cs typeface="Arial" pitchFamily="34" charset="0"/>
              </a:rPr>
              <a:t>Model Applications</a:t>
            </a:r>
          </a:p>
        </p:txBody>
      </p:sp>
      <p:pic>
        <p:nvPicPr>
          <p:cNvPr id="40964" name="Picture 8" descr="http://t3.gstatic.com/images?q=tbn:ANd9GcQ-koWxM-EsYnhFelRNtMILizxFej9nzxLD8JpgXFA6QVsxc5vv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733801"/>
            <a:ext cx="3009900" cy="209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3166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99"/>
          <p:cNvSpPr txBox="1">
            <a:spLocks noChangeArrowheads="1"/>
          </p:cNvSpPr>
          <p:nvPr/>
        </p:nvSpPr>
        <p:spPr bwMode="auto">
          <a:xfrm>
            <a:off x="2667000" y="381001"/>
            <a:ext cx="358933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b="1">
                <a:latin typeface="Arial" pitchFamily="34" charset="0"/>
              </a:rPr>
              <a:t>FLONET Model</a:t>
            </a:r>
          </a:p>
          <a:p>
            <a:pPr eaLnBrk="1" hangingPunct="1"/>
            <a:r>
              <a:rPr lang="en-US" b="1">
                <a:latin typeface="Arial" pitchFamily="34" charset="0"/>
              </a:rPr>
              <a:t>2D vertical flow system</a:t>
            </a:r>
          </a:p>
        </p:txBody>
      </p:sp>
      <p:sp>
        <p:nvSpPr>
          <p:cNvPr id="9219" name="ZoneTexte 69"/>
          <p:cNvSpPr txBox="1">
            <a:spLocks noChangeArrowheads="1"/>
          </p:cNvSpPr>
          <p:nvPr/>
        </p:nvSpPr>
        <p:spPr bwMode="auto">
          <a:xfrm>
            <a:off x="2743200" y="1295401"/>
            <a:ext cx="3733800" cy="75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Aft>
                <a:spcPts val="600"/>
              </a:spcAft>
            </a:pPr>
            <a:r>
              <a:rPr lang="en-US" sz="1800" b="1" dirty="0">
                <a:latin typeface="Arial" pitchFamily="34" charset="0"/>
                <a:cs typeface="Arial" pitchFamily="34" charset="0"/>
              </a:rPr>
              <a:t>Hydraulic head: </a:t>
            </a:r>
            <a:r>
              <a:rPr lang="el-GR" sz="2000" b="1" i="1" dirty="0">
                <a:cs typeface="Times New Roman" pitchFamily="18" charset="0"/>
                <a:sym typeface="Symbol" pitchFamily="18" charset="2"/>
              </a:rPr>
              <a:t></a:t>
            </a:r>
            <a:r>
              <a:rPr lang="en-US" sz="1800" b="1" i="1" dirty="0">
                <a:cs typeface="Times New Roman" pitchFamily="18" charset="0"/>
                <a:sym typeface="Symbol" pitchFamily="18" charset="2"/>
              </a:rPr>
              <a:t> </a:t>
            </a:r>
            <a:r>
              <a:rPr lang="en-US" sz="1800" b="1" i="1" dirty="0">
                <a:latin typeface="Arial" pitchFamily="34" charset="0"/>
                <a:cs typeface="Arial" pitchFamily="34" charset="0"/>
              </a:rPr>
              <a:t>= z +P/</a:t>
            </a:r>
            <a:r>
              <a:rPr lang="el-GR" sz="1800" b="1" i="1" dirty="0">
                <a:latin typeface="Arial" pitchFamily="34" charset="0"/>
                <a:cs typeface="Arial" pitchFamily="34" charset="0"/>
              </a:rPr>
              <a:t>ρ</a:t>
            </a:r>
            <a:r>
              <a:rPr lang="en-US" sz="1800" b="1" i="1" dirty="0">
                <a:latin typeface="Arial" pitchFamily="34" charset="0"/>
                <a:cs typeface="Arial" pitchFamily="34" charset="0"/>
              </a:rPr>
              <a:t>g</a:t>
            </a:r>
          </a:p>
          <a:p>
            <a:pPr eaLnBrk="1" hangingPunct="1">
              <a:spcAft>
                <a:spcPts val="600"/>
              </a:spcAft>
            </a:pPr>
            <a:r>
              <a:rPr lang="en-US" sz="1800" b="1" i="1" dirty="0">
                <a:latin typeface="Arial" pitchFamily="34" charset="0"/>
                <a:cs typeface="Arial" pitchFamily="34" charset="0"/>
              </a:rPr>
              <a:t>Velocity: v = -K</a:t>
            </a:r>
            <a:r>
              <a:rPr lang="en-US" sz="1800" b="1" i="1" dirty="0">
                <a:latin typeface="Arial" pitchFamily="34" charset="0"/>
                <a:cs typeface="Arial" pitchFamily="34" charset="0"/>
                <a:sym typeface="Symbol" pitchFamily="18" charset="2"/>
              </a:rPr>
              <a:t></a:t>
            </a:r>
            <a:r>
              <a:rPr lang="el-GR" sz="1800" b="1" i="1" dirty="0">
                <a:cs typeface="Times New Roman" pitchFamily="18" charset="0"/>
                <a:sym typeface="Symbol" pitchFamily="18" charset="2"/>
              </a:rPr>
              <a:t> </a:t>
            </a:r>
            <a:r>
              <a:rPr lang="en-US" sz="1800" b="1" i="1" dirty="0">
                <a:latin typeface="Arial" pitchFamily="34" charset="0"/>
                <a:cs typeface="Arial" pitchFamily="34" charset="0"/>
                <a:sym typeface="Symbol" pitchFamily="18" charset="2"/>
              </a:rPr>
              <a:t>/</a:t>
            </a:r>
            <a:r>
              <a:rPr lang="en-US" sz="1800" b="1" i="1" dirty="0">
                <a:latin typeface="Arial" pitchFamily="34" charset="0"/>
                <a:cs typeface="Arial" pitchFamily="34" charset="0"/>
              </a:rPr>
              <a:t> </a:t>
            </a:r>
            <a:endParaRPr lang="en-CA" sz="1800" b="1" i="1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9220" name="Groupe 69"/>
          <p:cNvGrpSpPr>
            <a:grpSpLocks/>
          </p:cNvGrpSpPr>
          <p:nvPr/>
        </p:nvGrpSpPr>
        <p:grpSpPr bwMode="auto">
          <a:xfrm>
            <a:off x="2514600" y="2057400"/>
            <a:ext cx="7672388" cy="4059238"/>
            <a:chOff x="1066800" y="2340761"/>
            <a:chExt cx="7672188" cy="4059186"/>
          </a:xfrm>
        </p:grpSpPr>
        <p:grpSp>
          <p:nvGrpSpPr>
            <p:cNvPr id="9221" name="Group 98"/>
            <p:cNvGrpSpPr>
              <a:grpSpLocks noChangeAspect="1"/>
            </p:cNvGrpSpPr>
            <p:nvPr/>
          </p:nvGrpSpPr>
          <p:grpSpPr bwMode="auto">
            <a:xfrm>
              <a:off x="1066800" y="2340761"/>
              <a:ext cx="7327900" cy="4059186"/>
              <a:chOff x="192" y="1008"/>
              <a:chExt cx="3751" cy="2077"/>
            </a:xfrm>
          </p:grpSpPr>
          <p:sp>
            <p:nvSpPr>
              <p:cNvPr id="9236" name="Freeform 62"/>
              <p:cNvSpPr>
                <a:spLocks noChangeAspect="1"/>
              </p:cNvSpPr>
              <p:nvPr/>
            </p:nvSpPr>
            <p:spPr bwMode="auto">
              <a:xfrm>
                <a:off x="912" y="1584"/>
                <a:ext cx="2352" cy="1248"/>
              </a:xfrm>
              <a:custGeom>
                <a:avLst/>
                <a:gdLst>
                  <a:gd name="T0" fmla="*/ 0 w 2352"/>
                  <a:gd name="T1" fmla="*/ 0 h 1248"/>
                  <a:gd name="T2" fmla="*/ 0 w 2352"/>
                  <a:gd name="T3" fmla="*/ 1248 h 1248"/>
                  <a:gd name="T4" fmla="*/ 2352 w 2352"/>
                  <a:gd name="T5" fmla="*/ 1248 h 1248"/>
                  <a:gd name="T6" fmla="*/ 2352 w 2352"/>
                  <a:gd name="T7" fmla="*/ 360 h 124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52"/>
                  <a:gd name="T13" fmla="*/ 0 h 1248"/>
                  <a:gd name="T14" fmla="*/ 2352 w 2352"/>
                  <a:gd name="T15" fmla="*/ 1248 h 124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52" h="1248">
                    <a:moveTo>
                      <a:pt x="0" y="0"/>
                    </a:moveTo>
                    <a:lnTo>
                      <a:pt x="0" y="1248"/>
                    </a:lnTo>
                    <a:lnTo>
                      <a:pt x="2352" y="1248"/>
                    </a:lnTo>
                    <a:lnTo>
                      <a:pt x="2352" y="360"/>
                    </a:lnTo>
                  </a:path>
                </a:pathLst>
              </a:custGeom>
              <a:noFill/>
              <a:ln w="22225">
                <a:solidFill>
                  <a:srgbClr val="0C0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7" name="Freeform 64"/>
              <p:cNvSpPr>
                <a:spLocks noChangeAspect="1"/>
              </p:cNvSpPr>
              <p:nvPr/>
            </p:nvSpPr>
            <p:spPr bwMode="auto">
              <a:xfrm>
                <a:off x="906" y="1578"/>
                <a:ext cx="2358" cy="366"/>
              </a:xfrm>
              <a:custGeom>
                <a:avLst/>
                <a:gdLst>
                  <a:gd name="T0" fmla="*/ 0 w 2358"/>
                  <a:gd name="T1" fmla="*/ 0 h 366"/>
                  <a:gd name="T2" fmla="*/ 264 w 2358"/>
                  <a:gd name="T3" fmla="*/ 6 h 366"/>
                  <a:gd name="T4" fmla="*/ 528 w 2358"/>
                  <a:gd name="T5" fmla="*/ 18 h 366"/>
                  <a:gd name="T6" fmla="*/ 906 w 2358"/>
                  <a:gd name="T7" fmla="*/ 48 h 366"/>
                  <a:gd name="T8" fmla="*/ 1224 w 2358"/>
                  <a:gd name="T9" fmla="*/ 78 h 366"/>
                  <a:gd name="T10" fmla="*/ 1482 w 2358"/>
                  <a:gd name="T11" fmla="*/ 108 h 366"/>
                  <a:gd name="T12" fmla="*/ 1710 w 2358"/>
                  <a:gd name="T13" fmla="*/ 144 h 366"/>
                  <a:gd name="T14" fmla="*/ 1920 w 2358"/>
                  <a:gd name="T15" fmla="*/ 186 h 366"/>
                  <a:gd name="T16" fmla="*/ 2130 w 2358"/>
                  <a:gd name="T17" fmla="*/ 252 h 366"/>
                  <a:gd name="T18" fmla="*/ 2316 w 2358"/>
                  <a:gd name="T19" fmla="*/ 324 h 366"/>
                  <a:gd name="T20" fmla="*/ 2358 w 2358"/>
                  <a:gd name="T21" fmla="*/ 366 h 36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358"/>
                  <a:gd name="T34" fmla="*/ 0 h 366"/>
                  <a:gd name="T35" fmla="*/ 2358 w 2358"/>
                  <a:gd name="T36" fmla="*/ 366 h 36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358" h="366">
                    <a:moveTo>
                      <a:pt x="0" y="0"/>
                    </a:moveTo>
                    <a:lnTo>
                      <a:pt x="264" y="6"/>
                    </a:lnTo>
                    <a:lnTo>
                      <a:pt x="528" y="18"/>
                    </a:lnTo>
                    <a:lnTo>
                      <a:pt x="906" y="48"/>
                    </a:lnTo>
                    <a:lnTo>
                      <a:pt x="1224" y="78"/>
                    </a:lnTo>
                    <a:lnTo>
                      <a:pt x="1482" y="108"/>
                    </a:lnTo>
                    <a:lnTo>
                      <a:pt x="1710" y="144"/>
                    </a:lnTo>
                    <a:lnTo>
                      <a:pt x="1920" y="186"/>
                    </a:lnTo>
                    <a:lnTo>
                      <a:pt x="2130" y="252"/>
                    </a:lnTo>
                    <a:lnTo>
                      <a:pt x="2316" y="324"/>
                    </a:lnTo>
                    <a:lnTo>
                      <a:pt x="2358" y="366"/>
                    </a:lnTo>
                  </a:path>
                </a:pathLst>
              </a:custGeom>
              <a:noFill/>
              <a:ln w="22225">
                <a:solidFill>
                  <a:srgbClr val="0C0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8" name="Line 65"/>
              <p:cNvSpPr>
                <a:spLocks noChangeAspect="1" noChangeShapeType="1"/>
              </p:cNvSpPr>
              <p:nvPr/>
            </p:nvSpPr>
            <p:spPr bwMode="auto">
              <a:xfrm flipV="1">
                <a:off x="912" y="1338"/>
                <a:ext cx="432" cy="240"/>
              </a:xfrm>
              <a:prstGeom prst="line">
                <a:avLst/>
              </a:prstGeom>
              <a:noFill/>
              <a:ln w="22225">
                <a:solidFill>
                  <a:srgbClr val="0C0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9" name="Freeform 66"/>
              <p:cNvSpPr>
                <a:spLocks noChangeAspect="1"/>
              </p:cNvSpPr>
              <p:nvPr/>
            </p:nvSpPr>
            <p:spPr bwMode="auto">
              <a:xfrm>
                <a:off x="1344" y="1344"/>
                <a:ext cx="2340" cy="354"/>
              </a:xfrm>
              <a:custGeom>
                <a:avLst/>
                <a:gdLst>
                  <a:gd name="T0" fmla="*/ 0 w 2340"/>
                  <a:gd name="T1" fmla="*/ 0 h 354"/>
                  <a:gd name="T2" fmla="*/ 264 w 2340"/>
                  <a:gd name="T3" fmla="*/ 6 h 354"/>
                  <a:gd name="T4" fmla="*/ 528 w 2340"/>
                  <a:gd name="T5" fmla="*/ 18 h 354"/>
                  <a:gd name="T6" fmla="*/ 906 w 2340"/>
                  <a:gd name="T7" fmla="*/ 48 h 354"/>
                  <a:gd name="T8" fmla="*/ 1224 w 2340"/>
                  <a:gd name="T9" fmla="*/ 78 h 354"/>
                  <a:gd name="T10" fmla="*/ 1482 w 2340"/>
                  <a:gd name="T11" fmla="*/ 108 h 354"/>
                  <a:gd name="T12" fmla="*/ 1710 w 2340"/>
                  <a:gd name="T13" fmla="*/ 144 h 354"/>
                  <a:gd name="T14" fmla="*/ 1920 w 2340"/>
                  <a:gd name="T15" fmla="*/ 186 h 354"/>
                  <a:gd name="T16" fmla="*/ 2130 w 2340"/>
                  <a:gd name="T17" fmla="*/ 252 h 354"/>
                  <a:gd name="T18" fmla="*/ 2316 w 2340"/>
                  <a:gd name="T19" fmla="*/ 324 h 354"/>
                  <a:gd name="T20" fmla="*/ 2340 w 2340"/>
                  <a:gd name="T21" fmla="*/ 354 h 35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340"/>
                  <a:gd name="T34" fmla="*/ 0 h 354"/>
                  <a:gd name="T35" fmla="*/ 2340 w 2340"/>
                  <a:gd name="T36" fmla="*/ 354 h 354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340" h="354">
                    <a:moveTo>
                      <a:pt x="0" y="0"/>
                    </a:moveTo>
                    <a:lnTo>
                      <a:pt x="264" y="6"/>
                    </a:lnTo>
                    <a:lnTo>
                      <a:pt x="528" y="18"/>
                    </a:lnTo>
                    <a:lnTo>
                      <a:pt x="906" y="48"/>
                    </a:lnTo>
                    <a:lnTo>
                      <a:pt x="1224" y="78"/>
                    </a:lnTo>
                    <a:lnTo>
                      <a:pt x="1482" y="108"/>
                    </a:lnTo>
                    <a:lnTo>
                      <a:pt x="1710" y="144"/>
                    </a:lnTo>
                    <a:lnTo>
                      <a:pt x="1920" y="186"/>
                    </a:lnTo>
                    <a:lnTo>
                      <a:pt x="2130" y="252"/>
                    </a:lnTo>
                    <a:lnTo>
                      <a:pt x="2316" y="324"/>
                    </a:lnTo>
                    <a:lnTo>
                      <a:pt x="2340" y="354"/>
                    </a:lnTo>
                  </a:path>
                </a:pathLst>
              </a:custGeom>
              <a:noFill/>
              <a:ln w="22225">
                <a:solidFill>
                  <a:srgbClr val="0C0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0" name="Line 68"/>
              <p:cNvSpPr>
                <a:spLocks noChangeAspect="1" noChangeShapeType="1"/>
              </p:cNvSpPr>
              <p:nvPr/>
            </p:nvSpPr>
            <p:spPr bwMode="auto">
              <a:xfrm flipV="1">
                <a:off x="3264" y="2580"/>
                <a:ext cx="426" cy="243"/>
              </a:xfrm>
              <a:prstGeom prst="line">
                <a:avLst/>
              </a:prstGeom>
              <a:noFill/>
              <a:ln w="22225">
                <a:solidFill>
                  <a:srgbClr val="0C0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1" name="Line 70"/>
              <p:cNvSpPr>
                <a:spLocks noChangeAspect="1" noChangeShapeType="1"/>
              </p:cNvSpPr>
              <p:nvPr/>
            </p:nvSpPr>
            <p:spPr bwMode="auto">
              <a:xfrm>
                <a:off x="3690" y="1713"/>
                <a:ext cx="0" cy="864"/>
              </a:xfrm>
              <a:prstGeom prst="line">
                <a:avLst/>
              </a:prstGeom>
              <a:noFill/>
              <a:ln w="22225">
                <a:solidFill>
                  <a:srgbClr val="0C0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2" name="Line 74"/>
              <p:cNvSpPr>
                <a:spLocks noChangeAspect="1" noChangeShapeType="1"/>
              </p:cNvSpPr>
              <p:nvPr/>
            </p:nvSpPr>
            <p:spPr bwMode="auto">
              <a:xfrm>
                <a:off x="1284" y="1214"/>
                <a:ext cx="0" cy="288"/>
              </a:xfrm>
              <a:prstGeom prst="line">
                <a:avLst/>
              </a:prstGeom>
              <a:noFill/>
              <a:ln w="19050">
                <a:solidFill>
                  <a:srgbClr val="0C0C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3" name="Line 75"/>
              <p:cNvSpPr>
                <a:spLocks noChangeAspect="1" noChangeShapeType="1"/>
              </p:cNvSpPr>
              <p:nvPr/>
            </p:nvSpPr>
            <p:spPr bwMode="auto">
              <a:xfrm>
                <a:off x="1752" y="1214"/>
                <a:ext cx="0" cy="288"/>
              </a:xfrm>
              <a:prstGeom prst="line">
                <a:avLst/>
              </a:prstGeom>
              <a:noFill/>
              <a:ln w="19050">
                <a:solidFill>
                  <a:srgbClr val="0C0C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4" name="Line 76"/>
              <p:cNvSpPr>
                <a:spLocks noChangeAspect="1" noChangeShapeType="1"/>
              </p:cNvSpPr>
              <p:nvPr/>
            </p:nvSpPr>
            <p:spPr bwMode="auto">
              <a:xfrm>
                <a:off x="2025" y="1224"/>
                <a:ext cx="0" cy="288"/>
              </a:xfrm>
              <a:prstGeom prst="line">
                <a:avLst/>
              </a:prstGeom>
              <a:noFill/>
              <a:ln w="19050">
                <a:solidFill>
                  <a:srgbClr val="0C0C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5" name="Line 77"/>
              <p:cNvSpPr>
                <a:spLocks noChangeAspect="1" noChangeShapeType="1"/>
              </p:cNvSpPr>
              <p:nvPr/>
            </p:nvSpPr>
            <p:spPr bwMode="auto">
              <a:xfrm>
                <a:off x="2304" y="1260"/>
                <a:ext cx="0" cy="288"/>
              </a:xfrm>
              <a:prstGeom prst="line">
                <a:avLst/>
              </a:prstGeom>
              <a:noFill/>
              <a:ln w="19050">
                <a:solidFill>
                  <a:srgbClr val="0C0C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6" name="Line 78"/>
              <p:cNvSpPr>
                <a:spLocks noChangeAspect="1" noChangeShapeType="1"/>
              </p:cNvSpPr>
              <p:nvPr/>
            </p:nvSpPr>
            <p:spPr bwMode="auto">
              <a:xfrm>
                <a:off x="2628" y="1290"/>
                <a:ext cx="0" cy="288"/>
              </a:xfrm>
              <a:prstGeom prst="line">
                <a:avLst/>
              </a:prstGeom>
              <a:noFill/>
              <a:ln w="19050">
                <a:solidFill>
                  <a:srgbClr val="0C0C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7" name="Line 79"/>
              <p:cNvSpPr>
                <a:spLocks noChangeAspect="1" noChangeShapeType="1"/>
              </p:cNvSpPr>
              <p:nvPr/>
            </p:nvSpPr>
            <p:spPr bwMode="auto">
              <a:xfrm>
                <a:off x="2880" y="1344"/>
                <a:ext cx="0" cy="288"/>
              </a:xfrm>
              <a:prstGeom prst="line">
                <a:avLst/>
              </a:prstGeom>
              <a:noFill/>
              <a:ln w="19050">
                <a:solidFill>
                  <a:srgbClr val="0C0C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8" name="Line 80"/>
              <p:cNvSpPr>
                <a:spLocks noChangeAspect="1" noChangeShapeType="1"/>
              </p:cNvSpPr>
              <p:nvPr/>
            </p:nvSpPr>
            <p:spPr bwMode="auto">
              <a:xfrm>
                <a:off x="3270" y="1440"/>
                <a:ext cx="0" cy="288"/>
              </a:xfrm>
              <a:prstGeom prst="line">
                <a:avLst/>
              </a:prstGeom>
              <a:noFill/>
              <a:ln w="19050">
                <a:solidFill>
                  <a:srgbClr val="0C0C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9" name="Text Box 82"/>
              <p:cNvSpPr txBox="1">
                <a:spLocks noChangeAspect="1" noChangeArrowheads="1"/>
              </p:cNvSpPr>
              <p:nvPr/>
            </p:nvSpPr>
            <p:spPr bwMode="auto">
              <a:xfrm>
                <a:off x="1830" y="1019"/>
                <a:ext cx="688" cy="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sz="2000" b="1">
                    <a:solidFill>
                      <a:srgbClr val="0C0C00"/>
                    </a:solidFill>
                    <a:latin typeface="Arial" pitchFamily="34" charset="0"/>
                    <a:cs typeface="Arial" pitchFamily="34" charset="0"/>
                  </a:rPr>
                  <a:t>Recharge</a:t>
                </a:r>
              </a:p>
            </p:txBody>
          </p:sp>
          <p:sp>
            <p:nvSpPr>
              <p:cNvPr id="9250" name="Text Box 83"/>
              <p:cNvSpPr txBox="1">
                <a:spLocks noChangeAspect="1" noChangeArrowheads="1"/>
              </p:cNvSpPr>
              <p:nvPr/>
            </p:nvSpPr>
            <p:spPr bwMode="auto">
              <a:xfrm>
                <a:off x="1248" y="2880"/>
                <a:ext cx="1399" cy="2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sz="2000" b="1">
                    <a:solidFill>
                      <a:srgbClr val="0C0C00"/>
                    </a:solidFill>
                    <a:latin typeface="Arial" pitchFamily="34" charset="0"/>
                    <a:cs typeface="Arial" pitchFamily="34" charset="0"/>
                  </a:rPr>
                  <a:t>Impermeable Bottom</a:t>
                </a:r>
              </a:p>
            </p:txBody>
          </p:sp>
          <p:sp>
            <p:nvSpPr>
              <p:cNvPr id="9251" name="Text Box 84"/>
              <p:cNvSpPr txBox="1">
                <a:spLocks noChangeAspect="1" noChangeArrowheads="1"/>
              </p:cNvSpPr>
              <p:nvPr/>
            </p:nvSpPr>
            <p:spPr bwMode="auto">
              <a:xfrm>
                <a:off x="192" y="1872"/>
                <a:ext cx="729" cy="3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sz="2000" b="1">
                    <a:solidFill>
                      <a:srgbClr val="0C0C00"/>
                    </a:solidFill>
                    <a:latin typeface="Arial" pitchFamily="34" charset="0"/>
                    <a:cs typeface="Arial" pitchFamily="34" charset="0"/>
                  </a:rPr>
                  <a:t>Symmetry</a:t>
                </a:r>
              </a:p>
              <a:p>
                <a:pPr eaLnBrk="1" hangingPunct="1"/>
                <a:r>
                  <a:rPr lang="en-US" sz="2000" b="1">
                    <a:solidFill>
                      <a:srgbClr val="0C0C00"/>
                    </a:solidFill>
                    <a:latin typeface="Arial" pitchFamily="34" charset="0"/>
                    <a:cs typeface="Arial" pitchFamily="34" charset="0"/>
                  </a:rPr>
                  <a:t>Boundary</a:t>
                </a:r>
              </a:p>
            </p:txBody>
          </p:sp>
          <p:sp>
            <p:nvSpPr>
              <p:cNvPr id="9252" name="AutoShape 85"/>
              <p:cNvSpPr>
                <a:spLocks noChangeAspect="1" noChangeArrowheads="1"/>
              </p:cNvSpPr>
              <p:nvPr/>
            </p:nvSpPr>
            <p:spPr bwMode="auto">
              <a:xfrm rot="10653801">
                <a:off x="2729" y="1709"/>
                <a:ext cx="252" cy="84"/>
              </a:xfrm>
              <a:prstGeom prst="rtTriangle">
                <a:avLst/>
              </a:prstGeom>
              <a:noFill/>
              <a:ln w="15875">
                <a:solidFill>
                  <a:srgbClr val="0C0C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 anchor="ctr"/>
              <a:lstStyle/>
              <a:p>
                <a:endParaRPr lang="en-CA">
                  <a:solidFill>
                    <a:srgbClr val="0C0C00"/>
                  </a:solidFill>
                </a:endParaRPr>
              </a:p>
            </p:txBody>
          </p:sp>
          <p:sp>
            <p:nvSpPr>
              <p:cNvPr id="9253" name="Freeform 92"/>
              <p:cNvSpPr>
                <a:spLocks noChangeAspect="1"/>
              </p:cNvSpPr>
              <p:nvPr/>
            </p:nvSpPr>
            <p:spPr bwMode="auto">
              <a:xfrm>
                <a:off x="3264" y="1629"/>
                <a:ext cx="426" cy="318"/>
              </a:xfrm>
              <a:custGeom>
                <a:avLst/>
                <a:gdLst>
                  <a:gd name="T0" fmla="*/ 0 w 426"/>
                  <a:gd name="T1" fmla="*/ 318 h 318"/>
                  <a:gd name="T2" fmla="*/ 0 w 426"/>
                  <a:gd name="T3" fmla="*/ 237 h 318"/>
                  <a:gd name="T4" fmla="*/ 426 w 426"/>
                  <a:gd name="T5" fmla="*/ 0 h 318"/>
                  <a:gd name="T6" fmla="*/ 426 w 426"/>
                  <a:gd name="T7" fmla="*/ 75 h 318"/>
                  <a:gd name="T8" fmla="*/ 0 w 426"/>
                  <a:gd name="T9" fmla="*/ 318 h 3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26"/>
                  <a:gd name="T16" fmla="*/ 0 h 318"/>
                  <a:gd name="T17" fmla="*/ 426 w 426"/>
                  <a:gd name="T18" fmla="*/ 318 h 3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26" h="318">
                    <a:moveTo>
                      <a:pt x="0" y="318"/>
                    </a:moveTo>
                    <a:lnTo>
                      <a:pt x="0" y="237"/>
                    </a:lnTo>
                    <a:lnTo>
                      <a:pt x="426" y="0"/>
                    </a:lnTo>
                    <a:lnTo>
                      <a:pt x="426" y="75"/>
                    </a:lnTo>
                    <a:lnTo>
                      <a:pt x="0" y="318"/>
                    </a:lnTo>
                    <a:close/>
                  </a:path>
                </a:pathLst>
              </a:custGeom>
              <a:noFill/>
              <a:ln w="15875">
                <a:solidFill>
                  <a:srgbClr val="0C0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54" name="Freeform 94"/>
              <p:cNvSpPr>
                <a:spLocks noChangeAspect="1"/>
              </p:cNvSpPr>
              <p:nvPr/>
            </p:nvSpPr>
            <p:spPr bwMode="auto">
              <a:xfrm>
                <a:off x="3135" y="1626"/>
                <a:ext cx="552" cy="240"/>
              </a:xfrm>
              <a:custGeom>
                <a:avLst/>
                <a:gdLst>
                  <a:gd name="T0" fmla="*/ 59 w 567"/>
                  <a:gd name="T1" fmla="*/ 93 h 249"/>
                  <a:gd name="T2" fmla="*/ 0 w 567"/>
                  <a:gd name="T3" fmla="*/ 90 h 249"/>
                  <a:gd name="T4" fmla="*/ 206 w 567"/>
                  <a:gd name="T5" fmla="*/ 0 h 249"/>
                  <a:gd name="T6" fmla="*/ 275 w 567"/>
                  <a:gd name="T7" fmla="*/ 0 h 249"/>
                  <a:gd name="T8" fmla="*/ 59 w 567"/>
                  <a:gd name="T9" fmla="*/ 93 h 24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7"/>
                  <a:gd name="T16" fmla="*/ 0 h 249"/>
                  <a:gd name="T17" fmla="*/ 567 w 567"/>
                  <a:gd name="T18" fmla="*/ 249 h 24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7" h="249">
                    <a:moveTo>
                      <a:pt x="123" y="249"/>
                    </a:moveTo>
                    <a:lnTo>
                      <a:pt x="0" y="243"/>
                    </a:lnTo>
                    <a:lnTo>
                      <a:pt x="426" y="0"/>
                    </a:lnTo>
                    <a:lnTo>
                      <a:pt x="567" y="0"/>
                    </a:lnTo>
                    <a:lnTo>
                      <a:pt x="123" y="249"/>
                    </a:lnTo>
                    <a:close/>
                  </a:path>
                </a:pathLst>
              </a:custGeom>
              <a:noFill/>
              <a:ln w="15875">
                <a:solidFill>
                  <a:srgbClr val="0C0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55" name="Line 67"/>
              <p:cNvSpPr>
                <a:spLocks noChangeAspect="1" noChangeShapeType="1"/>
              </p:cNvSpPr>
              <p:nvPr/>
            </p:nvSpPr>
            <p:spPr bwMode="auto">
              <a:xfrm flipV="1">
                <a:off x="3264" y="1707"/>
                <a:ext cx="432" cy="240"/>
              </a:xfrm>
              <a:prstGeom prst="line">
                <a:avLst/>
              </a:prstGeom>
              <a:noFill/>
              <a:ln w="22225">
                <a:solidFill>
                  <a:srgbClr val="0C0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56" name="Text Box 95"/>
              <p:cNvSpPr txBox="1">
                <a:spLocks noChangeAspect="1" noChangeArrowheads="1"/>
              </p:cNvSpPr>
              <p:nvPr/>
            </p:nvSpPr>
            <p:spPr bwMode="auto">
              <a:xfrm>
                <a:off x="3408" y="1344"/>
                <a:ext cx="535" cy="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sz="2000" b="1">
                    <a:solidFill>
                      <a:srgbClr val="0C0C00"/>
                    </a:solidFill>
                    <a:latin typeface="Arial" pitchFamily="34" charset="0"/>
                    <a:cs typeface="Arial" pitchFamily="34" charset="0"/>
                  </a:rPr>
                  <a:t>Stream</a:t>
                </a:r>
              </a:p>
            </p:txBody>
          </p:sp>
          <p:sp>
            <p:nvSpPr>
              <p:cNvPr id="9257" name="Text Box 96"/>
              <p:cNvSpPr txBox="1">
                <a:spLocks noChangeAspect="1" noChangeArrowheads="1"/>
              </p:cNvSpPr>
              <p:nvPr/>
            </p:nvSpPr>
            <p:spPr bwMode="auto">
              <a:xfrm>
                <a:off x="3072" y="1008"/>
                <a:ext cx="845" cy="2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sz="2000" b="1">
                    <a:solidFill>
                      <a:srgbClr val="0C0C00"/>
                    </a:solidFill>
                    <a:latin typeface="Arial" pitchFamily="34" charset="0"/>
                    <a:cs typeface="Arial" pitchFamily="34" charset="0"/>
                  </a:rPr>
                  <a:t>Gradient </a:t>
                </a:r>
                <a:r>
                  <a:rPr lang="en-CA" sz="2000" b="1">
                    <a:solidFill>
                      <a:srgbClr val="0C0C00"/>
                    </a:solidFill>
                    <a:latin typeface="Arial" pitchFamily="34" charset="0"/>
                    <a:cs typeface="Arial" pitchFamily="34" charset="0"/>
                    <a:sym typeface="Euclid Math Two" pitchFamily="18" charset="2"/>
                  </a:rPr>
                  <a:t>h</a:t>
                </a:r>
                <a:endParaRPr lang="en-CA" sz="2000" b="1">
                  <a:solidFill>
                    <a:srgbClr val="0C0C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9258" name="Line 97"/>
              <p:cNvSpPr>
                <a:spLocks noChangeAspect="1" noChangeShapeType="1"/>
              </p:cNvSpPr>
              <p:nvPr/>
            </p:nvSpPr>
            <p:spPr bwMode="auto">
              <a:xfrm flipH="1">
                <a:off x="2976" y="1200"/>
                <a:ext cx="192" cy="480"/>
              </a:xfrm>
              <a:prstGeom prst="line">
                <a:avLst/>
              </a:prstGeom>
              <a:noFill/>
              <a:ln w="9525">
                <a:solidFill>
                  <a:srgbClr val="0C0C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222" name="Forme libre 73"/>
            <p:cNvSpPr>
              <a:spLocks/>
            </p:cNvSpPr>
            <p:nvPr/>
          </p:nvSpPr>
          <p:spPr bwMode="auto">
            <a:xfrm>
              <a:off x="3857625" y="3524250"/>
              <a:ext cx="3048000" cy="919162"/>
            </a:xfrm>
            <a:custGeom>
              <a:avLst/>
              <a:gdLst>
                <a:gd name="T0" fmla="*/ 0 w 3048000"/>
                <a:gd name="T1" fmla="*/ 0 h 919162"/>
                <a:gd name="T2" fmla="*/ 57150 w 3048000"/>
                <a:gd name="T3" fmla="*/ 238125 h 919162"/>
                <a:gd name="T4" fmla="*/ 219075 w 3048000"/>
                <a:gd name="T5" fmla="*/ 495300 h 919162"/>
                <a:gd name="T6" fmla="*/ 514350 w 3048000"/>
                <a:gd name="T7" fmla="*/ 695325 h 919162"/>
                <a:gd name="T8" fmla="*/ 962025 w 3048000"/>
                <a:gd name="T9" fmla="*/ 828675 h 919162"/>
                <a:gd name="T10" fmla="*/ 1504950 w 3048000"/>
                <a:gd name="T11" fmla="*/ 895350 h 919162"/>
                <a:gd name="T12" fmla="*/ 2085975 w 3048000"/>
                <a:gd name="T13" fmla="*/ 914400 h 919162"/>
                <a:gd name="T14" fmla="*/ 2447924 w 3048000"/>
                <a:gd name="T15" fmla="*/ 866775 h 919162"/>
                <a:gd name="T16" fmla="*/ 2828924 w 3048000"/>
                <a:gd name="T17" fmla="*/ 733425 h 919162"/>
                <a:gd name="T18" fmla="*/ 3048000 w 3048000"/>
                <a:gd name="T19" fmla="*/ 619125 h 919162"/>
                <a:gd name="T20" fmla="*/ 3048000 w 3048000"/>
                <a:gd name="T21" fmla="*/ 619125 h 9191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048000"/>
                <a:gd name="T34" fmla="*/ 0 h 919162"/>
                <a:gd name="T35" fmla="*/ 3048000 w 3048000"/>
                <a:gd name="T36" fmla="*/ 919162 h 91916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048000" h="919162">
                  <a:moveTo>
                    <a:pt x="0" y="0"/>
                  </a:moveTo>
                  <a:cubicBezTo>
                    <a:pt x="10319" y="77787"/>
                    <a:pt x="20638" y="155575"/>
                    <a:pt x="57150" y="238125"/>
                  </a:cubicBezTo>
                  <a:cubicBezTo>
                    <a:pt x="93662" y="320675"/>
                    <a:pt x="142875" y="419100"/>
                    <a:pt x="219075" y="495300"/>
                  </a:cubicBezTo>
                  <a:cubicBezTo>
                    <a:pt x="295275" y="571500"/>
                    <a:pt x="390525" y="639763"/>
                    <a:pt x="514350" y="695325"/>
                  </a:cubicBezTo>
                  <a:cubicBezTo>
                    <a:pt x="638175" y="750887"/>
                    <a:pt x="796925" y="795338"/>
                    <a:pt x="962025" y="828675"/>
                  </a:cubicBezTo>
                  <a:cubicBezTo>
                    <a:pt x="1127125" y="862012"/>
                    <a:pt x="1317625" y="881063"/>
                    <a:pt x="1504950" y="895350"/>
                  </a:cubicBezTo>
                  <a:cubicBezTo>
                    <a:pt x="1692275" y="909637"/>
                    <a:pt x="1928813" y="919162"/>
                    <a:pt x="2085975" y="914400"/>
                  </a:cubicBezTo>
                  <a:cubicBezTo>
                    <a:pt x="2243137" y="909638"/>
                    <a:pt x="2324100" y="896937"/>
                    <a:pt x="2447925" y="866775"/>
                  </a:cubicBezTo>
                  <a:cubicBezTo>
                    <a:pt x="2571750" y="836613"/>
                    <a:pt x="2728913" y="774700"/>
                    <a:pt x="2828925" y="733425"/>
                  </a:cubicBezTo>
                  <a:cubicBezTo>
                    <a:pt x="2928938" y="692150"/>
                    <a:pt x="3048000" y="619125"/>
                    <a:pt x="3048000" y="619125"/>
                  </a:cubicBezTo>
                </a:path>
              </a:pathLst>
            </a:custGeom>
            <a:noFill/>
            <a:ln w="285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3" name="Forme libre 75"/>
            <p:cNvSpPr>
              <a:spLocks/>
            </p:cNvSpPr>
            <p:nvPr/>
          </p:nvSpPr>
          <p:spPr bwMode="auto">
            <a:xfrm>
              <a:off x="3124200" y="3505200"/>
              <a:ext cx="3733800" cy="1447800"/>
            </a:xfrm>
            <a:custGeom>
              <a:avLst/>
              <a:gdLst>
                <a:gd name="T0" fmla="*/ 0 w 3048000"/>
                <a:gd name="T1" fmla="*/ 0 h 919162"/>
                <a:gd name="T2" fmla="*/ 6083365 w 3048000"/>
                <a:gd name="T3" fmla="*/ 2147483647 h 919162"/>
                <a:gd name="T4" fmla="*/ 23319651 w 3048000"/>
                <a:gd name="T5" fmla="*/ 2147483647 h 919162"/>
                <a:gd name="T6" fmla="*/ 54750485 w 3048000"/>
                <a:gd name="T7" fmla="*/ 2147483647 h 919162"/>
                <a:gd name="T8" fmla="*/ 102403498 w 3048000"/>
                <a:gd name="T9" fmla="*/ 2147483647 h 919162"/>
                <a:gd name="T10" fmla="*/ 160195569 w 3048000"/>
                <a:gd name="T11" fmla="*/ 2147483647 h 919162"/>
                <a:gd name="T12" fmla="*/ 222042761 w 3048000"/>
                <a:gd name="T13" fmla="*/ 2147483647 h 919162"/>
                <a:gd name="T14" fmla="*/ 260571017 w 3048000"/>
                <a:gd name="T15" fmla="*/ 2147483647 h 919162"/>
                <a:gd name="T16" fmla="*/ 301127010 w 3048000"/>
                <a:gd name="T17" fmla="*/ 2147483647 h 919162"/>
                <a:gd name="T18" fmla="*/ 324446142 w 3048000"/>
                <a:gd name="T19" fmla="*/ 2147483647 h 919162"/>
                <a:gd name="T20" fmla="*/ 324446142 w 3048000"/>
                <a:gd name="T21" fmla="*/ 2147483647 h 9191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048000"/>
                <a:gd name="T34" fmla="*/ 0 h 919162"/>
                <a:gd name="T35" fmla="*/ 3048000 w 3048000"/>
                <a:gd name="T36" fmla="*/ 919162 h 91916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048000" h="919162">
                  <a:moveTo>
                    <a:pt x="0" y="0"/>
                  </a:moveTo>
                  <a:cubicBezTo>
                    <a:pt x="10319" y="77787"/>
                    <a:pt x="20638" y="155575"/>
                    <a:pt x="57150" y="238125"/>
                  </a:cubicBezTo>
                  <a:cubicBezTo>
                    <a:pt x="93662" y="320675"/>
                    <a:pt x="142875" y="419100"/>
                    <a:pt x="219075" y="495300"/>
                  </a:cubicBezTo>
                  <a:cubicBezTo>
                    <a:pt x="295275" y="571500"/>
                    <a:pt x="390525" y="639763"/>
                    <a:pt x="514350" y="695325"/>
                  </a:cubicBezTo>
                  <a:cubicBezTo>
                    <a:pt x="638175" y="750887"/>
                    <a:pt x="796925" y="795338"/>
                    <a:pt x="962025" y="828675"/>
                  </a:cubicBezTo>
                  <a:cubicBezTo>
                    <a:pt x="1127125" y="862012"/>
                    <a:pt x="1317625" y="881063"/>
                    <a:pt x="1504950" y="895350"/>
                  </a:cubicBezTo>
                  <a:cubicBezTo>
                    <a:pt x="1692275" y="909637"/>
                    <a:pt x="1928813" y="919162"/>
                    <a:pt x="2085975" y="914400"/>
                  </a:cubicBezTo>
                  <a:cubicBezTo>
                    <a:pt x="2243137" y="909638"/>
                    <a:pt x="2324100" y="896937"/>
                    <a:pt x="2447925" y="866775"/>
                  </a:cubicBezTo>
                  <a:cubicBezTo>
                    <a:pt x="2571750" y="836613"/>
                    <a:pt x="2728913" y="774700"/>
                    <a:pt x="2828925" y="733425"/>
                  </a:cubicBezTo>
                  <a:cubicBezTo>
                    <a:pt x="2928938" y="692150"/>
                    <a:pt x="3048000" y="619125"/>
                    <a:pt x="3048000" y="619125"/>
                  </a:cubicBezTo>
                </a:path>
              </a:pathLst>
            </a:custGeom>
            <a:noFill/>
            <a:ln w="285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4" name="Forme libre 76"/>
            <p:cNvSpPr>
              <a:spLocks/>
            </p:cNvSpPr>
            <p:nvPr/>
          </p:nvSpPr>
          <p:spPr bwMode="auto">
            <a:xfrm>
              <a:off x="2727296" y="3478032"/>
              <a:ext cx="4054503" cy="2160767"/>
            </a:xfrm>
            <a:custGeom>
              <a:avLst/>
              <a:gdLst>
                <a:gd name="T0" fmla="*/ 7766425 w 3060002"/>
                <a:gd name="T1" fmla="*/ 2147483647 h 965342"/>
                <a:gd name="T2" fmla="*/ 0 w 3060002"/>
                <a:gd name="T3" fmla="*/ 0 h 965342"/>
                <a:gd name="T4" fmla="*/ 44747444 w 3060002"/>
                <a:gd name="T5" fmla="*/ 2147483647 h 965342"/>
                <a:gd name="T6" fmla="*/ 149527762 w 3060002"/>
                <a:gd name="T7" fmla="*/ 2147483647 h 965342"/>
                <a:gd name="T8" fmla="*/ 340597337 w 3060002"/>
                <a:gd name="T9" fmla="*/ 2147483647 h 965342"/>
                <a:gd name="T10" fmla="*/ 630282463 w 3060002"/>
                <a:gd name="T11" fmla="*/ 2147483647 h 965342"/>
                <a:gd name="T12" fmla="*/ 981602842 w 3060002"/>
                <a:gd name="T13" fmla="*/ 2147483647 h 965342"/>
                <a:gd name="T14" fmla="*/ 1357576781 w 3060002"/>
                <a:gd name="T15" fmla="*/ 2147483647 h 965342"/>
                <a:gd name="T16" fmla="*/ 1591791272 w 3060002"/>
                <a:gd name="T17" fmla="*/ 2147483647 h 965342"/>
                <a:gd name="T18" fmla="*/ 1838333984 w 3060002"/>
                <a:gd name="T19" fmla="*/ 2147483647 h 965342"/>
                <a:gd name="T20" fmla="*/ 1980089700 w 3060002"/>
                <a:gd name="T21" fmla="*/ 2147483647 h 965342"/>
                <a:gd name="T22" fmla="*/ 1980089700 w 3060002"/>
                <a:gd name="T23" fmla="*/ 2147483647 h 96534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060002"/>
                <a:gd name="T37" fmla="*/ 0 h 965342"/>
                <a:gd name="T38" fmla="*/ 3060002 w 3060002"/>
                <a:gd name="T39" fmla="*/ 965342 h 96534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060002" h="965342">
                  <a:moveTo>
                    <a:pt x="12002" y="46180"/>
                  </a:moveTo>
                  <a:lnTo>
                    <a:pt x="0" y="0"/>
                  </a:lnTo>
                  <a:cubicBezTo>
                    <a:pt x="9525" y="39688"/>
                    <a:pt x="30639" y="194058"/>
                    <a:pt x="69152" y="284305"/>
                  </a:cubicBezTo>
                  <a:cubicBezTo>
                    <a:pt x="107665" y="374552"/>
                    <a:pt x="154877" y="465280"/>
                    <a:pt x="231077" y="541480"/>
                  </a:cubicBezTo>
                  <a:cubicBezTo>
                    <a:pt x="307277" y="617680"/>
                    <a:pt x="402527" y="685943"/>
                    <a:pt x="526352" y="741505"/>
                  </a:cubicBezTo>
                  <a:cubicBezTo>
                    <a:pt x="650177" y="797067"/>
                    <a:pt x="808927" y="841518"/>
                    <a:pt x="974027" y="874855"/>
                  </a:cubicBezTo>
                  <a:cubicBezTo>
                    <a:pt x="1139127" y="908192"/>
                    <a:pt x="1329627" y="927243"/>
                    <a:pt x="1516952" y="941530"/>
                  </a:cubicBezTo>
                  <a:cubicBezTo>
                    <a:pt x="1704277" y="955817"/>
                    <a:pt x="1940815" y="965342"/>
                    <a:pt x="2097977" y="960580"/>
                  </a:cubicBezTo>
                  <a:cubicBezTo>
                    <a:pt x="2255139" y="955818"/>
                    <a:pt x="2336102" y="943117"/>
                    <a:pt x="2459927" y="912955"/>
                  </a:cubicBezTo>
                  <a:cubicBezTo>
                    <a:pt x="2583752" y="882793"/>
                    <a:pt x="2740915" y="820880"/>
                    <a:pt x="2840927" y="779605"/>
                  </a:cubicBezTo>
                  <a:cubicBezTo>
                    <a:pt x="2940940" y="738330"/>
                    <a:pt x="3060002" y="665305"/>
                    <a:pt x="3060002" y="665305"/>
                  </a:cubicBezTo>
                </a:path>
              </a:pathLst>
            </a:custGeom>
            <a:noFill/>
            <a:ln w="285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5" name="Forme libre 77"/>
            <p:cNvSpPr>
              <a:spLocks/>
            </p:cNvSpPr>
            <p:nvPr/>
          </p:nvSpPr>
          <p:spPr bwMode="auto">
            <a:xfrm>
              <a:off x="2466975" y="3562350"/>
              <a:ext cx="1676400" cy="307975"/>
            </a:xfrm>
            <a:custGeom>
              <a:avLst/>
              <a:gdLst>
                <a:gd name="T0" fmla="*/ 1676400 w 1676400"/>
                <a:gd name="T1" fmla="*/ 0 h 307975"/>
                <a:gd name="T2" fmla="*/ 1504950 w 1676400"/>
                <a:gd name="T3" fmla="*/ 152400 h 307975"/>
                <a:gd name="T4" fmla="*/ 1190625 w 1676400"/>
                <a:gd name="T5" fmla="*/ 219075 h 307975"/>
                <a:gd name="T6" fmla="*/ 495300 w 1676400"/>
                <a:gd name="T7" fmla="*/ 295275 h 307975"/>
                <a:gd name="T8" fmla="*/ 0 w 1676400"/>
                <a:gd name="T9" fmla="*/ 295275 h 307975"/>
                <a:gd name="T10" fmla="*/ 0 w 1676400"/>
                <a:gd name="T11" fmla="*/ 295275 h 3079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76400"/>
                <a:gd name="T19" fmla="*/ 0 h 307975"/>
                <a:gd name="T20" fmla="*/ 1676400 w 1676400"/>
                <a:gd name="T21" fmla="*/ 307975 h 3079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76400" h="307975">
                  <a:moveTo>
                    <a:pt x="1676400" y="0"/>
                  </a:moveTo>
                  <a:cubicBezTo>
                    <a:pt x="1631156" y="57944"/>
                    <a:pt x="1585912" y="115888"/>
                    <a:pt x="1504950" y="152400"/>
                  </a:cubicBezTo>
                  <a:cubicBezTo>
                    <a:pt x="1423988" y="188912"/>
                    <a:pt x="1358900" y="195263"/>
                    <a:pt x="1190625" y="219075"/>
                  </a:cubicBezTo>
                  <a:cubicBezTo>
                    <a:pt x="1022350" y="242887"/>
                    <a:pt x="693737" y="282575"/>
                    <a:pt x="495300" y="295275"/>
                  </a:cubicBezTo>
                  <a:cubicBezTo>
                    <a:pt x="296863" y="307975"/>
                    <a:pt x="0" y="295275"/>
                    <a:pt x="0" y="295275"/>
                  </a:cubicBezTo>
                </a:path>
              </a:pathLst>
            </a:custGeom>
            <a:noFill/>
            <a:ln w="19050" cap="flat" cmpd="sng" algn="ctr">
              <a:solidFill>
                <a:srgbClr val="FF33CC"/>
              </a:solidFill>
              <a:prstDash val="lgDash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6" name="Forme libre 78"/>
            <p:cNvSpPr>
              <a:spLocks/>
            </p:cNvSpPr>
            <p:nvPr/>
          </p:nvSpPr>
          <p:spPr bwMode="auto">
            <a:xfrm>
              <a:off x="5915025" y="3762375"/>
              <a:ext cx="1143000" cy="1727200"/>
            </a:xfrm>
            <a:custGeom>
              <a:avLst/>
              <a:gdLst>
                <a:gd name="T0" fmla="*/ 0 w 1143000"/>
                <a:gd name="T1" fmla="*/ 0 h 1727200"/>
                <a:gd name="T2" fmla="*/ 28575 w 1143000"/>
                <a:gd name="T3" fmla="*/ 190500 h 1727200"/>
                <a:gd name="T4" fmla="*/ 104775 w 1143000"/>
                <a:gd name="T5" fmla="*/ 495300 h 1727200"/>
                <a:gd name="T6" fmla="*/ 209550 w 1143000"/>
                <a:gd name="T7" fmla="*/ 819150 h 1727200"/>
                <a:gd name="T8" fmla="*/ 333375 w 1143000"/>
                <a:gd name="T9" fmla="*/ 1143000 h 1727200"/>
                <a:gd name="T10" fmla="*/ 485775 w 1143000"/>
                <a:gd name="T11" fmla="*/ 1438275 h 1727200"/>
                <a:gd name="T12" fmla="*/ 676275 w 1143000"/>
                <a:gd name="T13" fmla="*/ 1638300 h 1727200"/>
                <a:gd name="T14" fmla="*/ 885825 w 1143000"/>
                <a:gd name="T15" fmla="*/ 1714500 h 1727200"/>
                <a:gd name="T16" fmla="*/ 1143000 w 1143000"/>
                <a:gd name="T17" fmla="*/ 1714500 h 1727200"/>
                <a:gd name="T18" fmla="*/ 1143000 w 1143000"/>
                <a:gd name="T19" fmla="*/ 1714500 h 17272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143000"/>
                <a:gd name="T31" fmla="*/ 0 h 1727200"/>
                <a:gd name="T32" fmla="*/ 1143000 w 1143000"/>
                <a:gd name="T33" fmla="*/ 1727200 h 17272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143000" h="1727200">
                  <a:moveTo>
                    <a:pt x="0" y="0"/>
                  </a:moveTo>
                  <a:cubicBezTo>
                    <a:pt x="5556" y="53975"/>
                    <a:pt x="11113" y="107950"/>
                    <a:pt x="28575" y="190500"/>
                  </a:cubicBezTo>
                  <a:cubicBezTo>
                    <a:pt x="46037" y="273050"/>
                    <a:pt x="74613" y="390525"/>
                    <a:pt x="104775" y="495300"/>
                  </a:cubicBezTo>
                  <a:cubicBezTo>
                    <a:pt x="134937" y="600075"/>
                    <a:pt x="171450" y="711200"/>
                    <a:pt x="209550" y="819150"/>
                  </a:cubicBezTo>
                  <a:cubicBezTo>
                    <a:pt x="247650" y="927100"/>
                    <a:pt x="287338" y="1039813"/>
                    <a:pt x="333375" y="1143000"/>
                  </a:cubicBezTo>
                  <a:cubicBezTo>
                    <a:pt x="379413" y="1246188"/>
                    <a:pt x="428625" y="1355725"/>
                    <a:pt x="485775" y="1438275"/>
                  </a:cubicBezTo>
                  <a:cubicBezTo>
                    <a:pt x="542925" y="1520825"/>
                    <a:pt x="609600" y="1592263"/>
                    <a:pt x="676275" y="1638300"/>
                  </a:cubicBezTo>
                  <a:cubicBezTo>
                    <a:pt x="742950" y="1684337"/>
                    <a:pt x="808038" y="1701800"/>
                    <a:pt x="885825" y="1714500"/>
                  </a:cubicBezTo>
                  <a:cubicBezTo>
                    <a:pt x="963613" y="1727200"/>
                    <a:pt x="1143000" y="1714500"/>
                    <a:pt x="1143000" y="1714500"/>
                  </a:cubicBezTo>
                </a:path>
              </a:pathLst>
            </a:custGeom>
            <a:noFill/>
            <a:ln w="19050" cap="flat" cmpd="sng" algn="ctr">
              <a:solidFill>
                <a:srgbClr val="FF33CC"/>
              </a:solidFill>
              <a:prstDash val="lgDash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7" name="Forme libre 84"/>
            <p:cNvSpPr>
              <a:spLocks/>
            </p:cNvSpPr>
            <p:nvPr/>
          </p:nvSpPr>
          <p:spPr bwMode="auto">
            <a:xfrm>
              <a:off x="2466975" y="3600450"/>
              <a:ext cx="2324100" cy="1262062"/>
            </a:xfrm>
            <a:custGeom>
              <a:avLst/>
              <a:gdLst>
                <a:gd name="T0" fmla="*/ 2324100 w 2324100"/>
                <a:gd name="T1" fmla="*/ 0 h 1262062"/>
                <a:gd name="T2" fmla="*/ 2219324 w 2324100"/>
                <a:gd name="T3" fmla="*/ 200025 h 1262062"/>
                <a:gd name="T4" fmla="*/ 2047875 w 2324100"/>
                <a:gd name="T5" fmla="*/ 400050 h 1262062"/>
                <a:gd name="T6" fmla="*/ 1790700 w 2324100"/>
                <a:gd name="T7" fmla="*/ 619125 h 1262062"/>
                <a:gd name="T8" fmla="*/ 1495425 w 2324100"/>
                <a:gd name="T9" fmla="*/ 819150 h 1262062"/>
                <a:gd name="T10" fmla="*/ 1095375 w 2324100"/>
                <a:gd name="T11" fmla="*/ 1009650 h 1262062"/>
                <a:gd name="T12" fmla="*/ 762000 w 2324100"/>
                <a:gd name="T13" fmla="*/ 1143000 h 1262062"/>
                <a:gd name="T14" fmla="*/ 485775 w 2324100"/>
                <a:gd name="T15" fmla="*/ 1228725 h 1262062"/>
                <a:gd name="T16" fmla="*/ 219075 w 2324100"/>
                <a:gd name="T17" fmla="*/ 1257300 h 1262062"/>
                <a:gd name="T18" fmla="*/ 0 w 2324100"/>
                <a:gd name="T19" fmla="*/ 1257300 h 1262062"/>
                <a:gd name="T20" fmla="*/ 9525 w 2324100"/>
                <a:gd name="T21" fmla="*/ 1257300 h 12620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324100"/>
                <a:gd name="T34" fmla="*/ 0 h 1262062"/>
                <a:gd name="T35" fmla="*/ 2324100 w 2324100"/>
                <a:gd name="T36" fmla="*/ 1262062 h 126206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324100" h="1262062">
                  <a:moveTo>
                    <a:pt x="2324100" y="0"/>
                  </a:moveTo>
                  <a:cubicBezTo>
                    <a:pt x="2294731" y="66675"/>
                    <a:pt x="2265362" y="133350"/>
                    <a:pt x="2219325" y="200025"/>
                  </a:cubicBezTo>
                  <a:cubicBezTo>
                    <a:pt x="2173288" y="266700"/>
                    <a:pt x="2119312" y="330200"/>
                    <a:pt x="2047875" y="400050"/>
                  </a:cubicBezTo>
                  <a:cubicBezTo>
                    <a:pt x="1976438" y="469900"/>
                    <a:pt x="1882775" y="549275"/>
                    <a:pt x="1790700" y="619125"/>
                  </a:cubicBezTo>
                  <a:cubicBezTo>
                    <a:pt x="1698625" y="688975"/>
                    <a:pt x="1611312" y="754063"/>
                    <a:pt x="1495425" y="819150"/>
                  </a:cubicBezTo>
                  <a:cubicBezTo>
                    <a:pt x="1379538" y="884237"/>
                    <a:pt x="1217612" y="955675"/>
                    <a:pt x="1095375" y="1009650"/>
                  </a:cubicBezTo>
                  <a:cubicBezTo>
                    <a:pt x="973138" y="1063625"/>
                    <a:pt x="863600" y="1106488"/>
                    <a:pt x="762000" y="1143000"/>
                  </a:cubicBezTo>
                  <a:cubicBezTo>
                    <a:pt x="660400" y="1179512"/>
                    <a:pt x="576263" y="1209675"/>
                    <a:pt x="485775" y="1228725"/>
                  </a:cubicBezTo>
                  <a:cubicBezTo>
                    <a:pt x="395287" y="1247775"/>
                    <a:pt x="300037" y="1252538"/>
                    <a:pt x="219075" y="1257300"/>
                  </a:cubicBezTo>
                  <a:cubicBezTo>
                    <a:pt x="138113" y="1262062"/>
                    <a:pt x="0" y="1257300"/>
                    <a:pt x="0" y="1257300"/>
                  </a:cubicBezTo>
                  <a:lnTo>
                    <a:pt x="9525" y="1257300"/>
                  </a:lnTo>
                </a:path>
              </a:pathLst>
            </a:custGeom>
            <a:noFill/>
            <a:ln w="19050" cap="flat" cmpd="sng" algn="ctr">
              <a:solidFill>
                <a:srgbClr val="FF33CC"/>
              </a:solidFill>
              <a:prstDash val="lgDash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8" name="Forme libre 85"/>
            <p:cNvSpPr>
              <a:spLocks/>
            </p:cNvSpPr>
            <p:nvPr/>
          </p:nvSpPr>
          <p:spPr bwMode="auto">
            <a:xfrm>
              <a:off x="5141844" y="3665551"/>
              <a:ext cx="193481" cy="2242268"/>
            </a:xfrm>
            <a:custGeom>
              <a:avLst/>
              <a:gdLst>
                <a:gd name="T0" fmla="*/ 193481 w 193481"/>
                <a:gd name="T1" fmla="*/ 0 h 2242268"/>
                <a:gd name="T2" fmla="*/ 113968 w 193481"/>
                <a:gd name="T3" fmla="*/ 389614 h 2242268"/>
                <a:gd name="T4" fmla="*/ 58309 w 193481"/>
                <a:gd name="T5" fmla="*/ 779228 h 2242268"/>
                <a:gd name="T6" fmla="*/ 18553 w 193481"/>
                <a:gd name="T7" fmla="*/ 1240404 h 2242268"/>
                <a:gd name="T8" fmla="*/ 2650 w 193481"/>
                <a:gd name="T9" fmla="*/ 1637969 h 2242268"/>
                <a:gd name="T10" fmla="*/ 2650 w 193481"/>
                <a:gd name="T11" fmla="*/ 2083242 h 2242268"/>
                <a:gd name="T12" fmla="*/ 2650 w 193481"/>
                <a:gd name="T13" fmla="*/ 2242268 h 2242268"/>
                <a:gd name="T14" fmla="*/ 2650 w 193481"/>
                <a:gd name="T15" fmla="*/ 2242268 h 22422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93481"/>
                <a:gd name="T25" fmla="*/ 0 h 2242268"/>
                <a:gd name="T26" fmla="*/ 193481 w 193481"/>
                <a:gd name="T27" fmla="*/ 2242268 h 224226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93481" h="2242268">
                  <a:moveTo>
                    <a:pt x="193481" y="0"/>
                  </a:moveTo>
                  <a:cubicBezTo>
                    <a:pt x="164989" y="129871"/>
                    <a:pt x="136497" y="259743"/>
                    <a:pt x="113968" y="389614"/>
                  </a:cubicBezTo>
                  <a:cubicBezTo>
                    <a:pt x="91439" y="519485"/>
                    <a:pt x="74211" y="637430"/>
                    <a:pt x="58309" y="779228"/>
                  </a:cubicBezTo>
                  <a:cubicBezTo>
                    <a:pt x="42407" y="921026"/>
                    <a:pt x="27830" y="1097280"/>
                    <a:pt x="18553" y="1240404"/>
                  </a:cubicBezTo>
                  <a:cubicBezTo>
                    <a:pt x="9276" y="1383528"/>
                    <a:pt x="5301" y="1497496"/>
                    <a:pt x="2650" y="1637969"/>
                  </a:cubicBezTo>
                  <a:cubicBezTo>
                    <a:pt x="0" y="1778442"/>
                    <a:pt x="2650" y="2083242"/>
                    <a:pt x="2650" y="2083242"/>
                  </a:cubicBezTo>
                  <a:lnTo>
                    <a:pt x="2650" y="2242268"/>
                  </a:lnTo>
                </a:path>
              </a:pathLst>
            </a:custGeom>
            <a:noFill/>
            <a:ln w="19050" cap="flat" cmpd="sng" algn="ctr">
              <a:solidFill>
                <a:srgbClr val="FF33CC"/>
              </a:solidFill>
              <a:prstDash val="lgDash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9" name="Forme libre 86"/>
            <p:cNvSpPr>
              <a:spLocks/>
            </p:cNvSpPr>
            <p:nvPr/>
          </p:nvSpPr>
          <p:spPr bwMode="auto">
            <a:xfrm>
              <a:off x="6512118" y="3927944"/>
              <a:ext cx="585746" cy="528762"/>
            </a:xfrm>
            <a:custGeom>
              <a:avLst/>
              <a:gdLst>
                <a:gd name="T0" fmla="*/ 0 w 585746"/>
                <a:gd name="T1" fmla="*/ 0 h 528762"/>
                <a:gd name="T2" fmla="*/ 39757 w 585746"/>
                <a:gd name="T3" fmla="*/ 127221 h 528762"/>
                <a:gd name="T4" fmla="*/ 135172 w 585746"/>
                <a:gd name="T5" fmla="*/ 302150 h 528762"/>
                <a:gd name="T6" fmla="*/ 270345 w 585746"/>
                <a:gd name="T7" fmla="*/ 453225 h 528762"/>
                <a:gd name="T8" fmla="*/ 429371 w 585746"/>
                <a:gd name="T9" fmla="*/ 516835 h 528762"/>
                <a:gd name="T10" fmla="*/ 564543 w 585746"/>
                <a:gd name="T11" fmla="*/ 524786 h 528762"/>
                <a:gd name="T12" fmla="*/ 556592 w 585746"/>
                <a:gd name="T13" fmla="*/ 524786 h 5287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85746"/>
                <a:gd name="T22" fmla="*/ 0 h 528762"/>
                <a:gd name="T23" fmla="*/ 585746 w 585746"/>
                <a:gd name="T24" fmla="*/ 528762 h 52876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85746" h="528762">
                  <a:moveTo>
                    <a:pt x="0" y="0"/>
                  </a:moveTo>
                  <a:cubicBezTo>
                    <a:pt x="8614" y="38431"/>
                    <a:pt x="17228" y="76863"/>
                    <a:pt x="39757" y="127221"/>
                  </a:cubicBezTo>
                  <a:cubicBezTo>
                    <a:pt x="62286" y="177579"/>
                    <a:pt x="96741" y="247816"/>
                    <a:pt x="135172" y="302150"/>
                  </a:cubicBezTo>
                  <a:cubicBezTo>
                    <a:pt x="173603" y="356484"/>
                    <a:pt x="221312" y="417444"/>
                    <a:pt x="270345" y="453225"/>
                  </a:cubicBezTo>
                  <a:cubicBezTo>
                    <a:pt x="319378" y="489006"/>
                    <a:pt x="380338" y="504908"/>
                    <a:pt x="429371" y="516835"/>
                  </a:cubicBezTo>
                  <a:cubicBezTo>
                    <a:pt x="478404" y="528762"/>
                    <a:pt x="543340" y="523461"/>
                    <a:pt x="564543" y="524786"/>
                  </a:cubicBezTo>
                  <a:cubicBezTo>
                    <a:pt x="585746" y="526111"/>
                    <a:pt x="571169" y="525448"/>
                    <a:pt x="556592" y="524786"/>
                  </a:cubicBezTo>
                </a:path>
              </a:pathLst>
            </a:custGeom>
            <a:noFill/>
            <a:ln w="19050" cap="flat" cmpd="sng" algn="ctr">
              <a:solidFill>
                <a:srgbClr val="FF33CC"/>
              </a:solidFill>
              <a:prstDash val="lgDash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0" name="ZoneTexte 87"/>
            <p:cNvSpPr txBox="1">
              <a:spLocks noChangeArrowheads="1"/>
            </p:cNvSpPr>
            <p:nvPr/>
          </p:nvSpPr>
          <p:spPr bwMode="auto">
            <a:xfrm>
              <a:off x="3810000" y="4114800"/>
              <a:ext cx="372218" cy="4616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CA" b="1">
                  <a:solidFill>
                    <a:srgbClr val="0C0C00"/>
                  </a:solidFill>
                  <a:latin typeface="Arial" pitchFamily="34" charset="0"/>
                  <a:cs typeface="Arial" pitchFamily="34" charset="0"/>
                </a:rPr>
                <a:t>h</a:t>
              </a:r>
            </a:p>
          </p:txBody>
        </p:sp>
        <p:sp>
          <p:nvSpPr>
            <p:cNvPr id="9231" name="Forme libre 88"/>
            <p:cNvSpPr>
              <a:spLocks/>
            </p:cNvSpPr>
            <p:nvPr/>
          </p:nvSpPr>
          <p:spPr bwMode="auto">
            <a:xfrm>
              <a:off x="3307743" y="3132814"/>
              <a:ext cx="620201" cy="214685"/>
            </a:xfrm>
            <a:custGeom>
              <a:avLst/>
              <a:gdLst>
                <a:gd name="T0" fmla="*/ 238539 w 620201"/>
                <a:gd name="T1" fmla="*/ 0 h 214685"/>
                <a:gd name="T2" fmla="*/ 0 w 620201"/>
                <a:gd name="T3" fmla="*/ 182880 h 214685"/>
                <a:gd name="T4" fmla="*/ 556591 w 620201"/>
                <a:gd name="T5" fmla="*/ 214685 h 214685"/>
                <a:gd name="T6" fmla="*/ 620201 w 620201"/>
                <a:gd name="T7" fmla="*/ 15903 h 214685"/>
                <a:gd name="T8" fmla="*/ 238539 w 620201"/>
                <a:gd name="T9" fmla="*/ 0 h 2146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0201"/>
                <a:gd name="T16" fmla="*/ 0 h 214685"/>
                <a:gd name="T17" fmla="*/ 620201 w 620201"/>
                <a:gd name="T18" fmla="*/ 214685 h 21468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0201" h="214685">
                  <a:moveTo>
                    <a:pt x="238539" y="0"/>
                  </a:moveTo>
                  <a:lnTo>
                    <a:pt x="0" y="182880"/>
                  </a:lnTo>
                  <a:lnTo>
                    <a:pt x="556591" y="214685"/>
                  </a:lnTo>
                  <a:lnTo>
                    <a:pt x="620201" y="15903"/>
                  </a:lnTo>
                  <a:lnTo>
                    <a:pt x="238539" y="0"/>
                  </a:lnTo>
                  <a:close/>
                </a:path>
              </a:pathLst>
            </a:custGeom>
            <a:solidFill>
              <a:srgbClr val="FF0066"/>
            </a:solidFill>
            <a:ln w="12700" cap="flat" cmpd="sng" algn="ctr">
              <a:solidFill>
                <a:srgbClr val="0C0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ZoneTexte 89"/>
            <p:cNvSpPr txBox="1"/>
            <p:nvPr/>
          </p:nvSpPr>
          <p:spPr>
            <a:xfrm>
              <a:off x="3269675" y="2760025"/>
              <a:ext cx="739479" cy="338550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CA" sz="1600" dirty="0">
                  <a:ln>
                    <a:solidFill>
                      <a:srgbClr val="FF0000"/>
                    </a:solidFill>
                  </a:ln>
                  <a:solidFill>
                    <a:srgbClr val="FF0066"/>
                  </a:solidFill>
                </a:rPr>
                <a:t>source</a:t>
              </a:r>
            </a:p>
          </p:txBody>
        </p:sp>
        <p:sp>
          <p:nvSpPr>
            <p:cNvPr id="9233" name="ZoneTexte 90"/>
            <p:cNvSpPr txBox="1">
              <a:spLocks noChangeArrowheads="1"/>
            </p:cNvSpPr>
            <p:nvPr/>
          </p:nvSpPr>
          <p:spPr bwMode="auto">
            <a:xfrm>
              <a:off x="5518204" y="5029200"/>
              <a:ext cx="356188" cy="4616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CA" b="1">
                  <a:solidFill>
                    <a:srgbClr val="0C0C00"/>
                  </a:solidFill>
                  <a:latin typeface="Arial" pitchFamily="34" charset="0"/>
                  <a:cs typeface="Arial" pitchFamily="34" charset="0"/>
                </a:rPr>
                <a:t>v</a:t>
              </a:r>
            </a:p>
          </p:txBody>
        </p:sp>
        <p:cxnSp>
          <p:nvCxnSpPr>
            <p:cNvPr id="9234" name="Connecteur droit avec flèche 91"/>
            <p:cNvCxnSpPr>
              <a:cxnSpLocks noChangeShapeType="1"/>
            </p:cNvCxnSpPr>
            <p:nvPr/>
          </p:nvCxnSpPr>
          <p:spPr bwMode="auto">
            <a:xfrm flipV="1">
              <a:off x="5867400" y="5105400"/>
              <a:ext cx="381000" cy="152400"/>
            </a:xfrm>
            <a:prstGeom prst="straightConnector1">
              <a:avLst/>
            </a:prstGeom>
            <a:noFill/>
            <a:ln w="12700" algn="ctr">
              <a:solidFill>
                <a:srgbClr val="0C0C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235" name="Text Box 84"/>
            <p:cNvSpPr txBox="1">
              <a:spLocks noChangeAspect="1" noChangeArrowheads="1"/>
            </p:cNvSpPr>
            <p:nvPr/>
          </p:nvSpPr>
          <p:spPr bwMode="auto">
            <a:xfrm>
              <a:off x="7315200" y="4419600"/>
              <a:ext cx="1423788" cy="707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sz="2000" b="1">
                  <a:solidFill>
                    <a:srgbClr val="0C0C00"/>
                  </a:solidFill>
                  <a:latin typeface="Arial" pitchFamily="34" charset="0"/>
                  <a:cs typeface="Arial" pitchFamily="34" charset="0"/>
                </a:rPr>
                <a:t>Symmetry</a:t>
              </a:r>
            </a:p>
            <a:p>
              <a:pPr eaLnBrk="1" hangingPunct="1"/>
              <a:r>
                <a:rPr lang="en-US" sz="2000" b="1">
                  <a:solidFill>
                    <a:srgbClr val="0C0C00"/>
                  </a:solidFill>
                  <a:latin typeface="Arial" pitchFamily="34" charset="0"/>
                  <a:cs typeface="Arial" pitchFamily="34" charset="0"/>
                </a:rPr>
                <a:t>Boundary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87088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1905000" y="152400"/>
            <a:ext cx="7772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0" hangingPunct="0"/>
            <a:r>
              <a:rPr lang="en-US" sz="3200" b="1">
                <a:solidFill>
                  <a:srgbClr val="0C0C00"/>
                </a:solidFill>
                <a:latin typeface="Arial" pitchFamily="34" charset="0"/>
                <a:cs typeface="Arial" pitchFamily="34" charset="0"/>
              </a:rPr>
              <a:t>Summary: Flow Boundary Conditions:</a:t>
            </a:r>
          </a:p>
        </p:txBody>
      </p:sp>
      <p:sp>
        <p:nvSpPr>
          <p:cNvPr id="11267" name="Text Box 4"/>
          <p:cNvSpPr txBox="1">
            <a:spLocks noChangeArrowheads="1"/>
          </p:cNvSpPr>
          <p:nvPr/>
        </p:nvSpPr>
        <p:spPr bwMode="auto">
          <a:xfrm>
            <a:off x="1752600" y="1371601"/>
            <a:ext cx="60515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b="1">
                <a:solidFill>
                  <a:srgbClr val="0C0C00"/>
                </a:solidFill>
                <a:latin typeface="Arial" pitchFamily="34" charset="0"/>
                <a:cs typeface="Arial" pitchFamily="34" charset="0"/>
              </a:rPr>
              <a:t>Type 1 or “Dirichlet ”:  Fixed head   h=h</a:t>
            </a:r>
            <a:r>
              <a:rPr lang="en-US" b="1" baseline="-25000">
                <a:solidFill>
                  <a:srgbClr val="0C0C00"/>
                </a:solidFill>
                <a:latin typeface="Arial" pitchFamily="34" charset="0"/>
                <a:cs typeface="Arial" pitchFamily="34" charset="0"/>
              </a:rPr>
              <a:t>o</a:t>
            </a:r>
          </a:p>
        </p:txBody>
      </p:sp>
      <p:sp>
        <p:nvSpPr>
          <p:cNvPr id="11268" name="Text Box 5"/>
          <p:cNvSpPr txBox="1">
            <a:spLocks noChangeArrowheads="1"/>
          </p:cNvSpPr>
          <p:nvPr/>
        </p:nvSpPr>
        <p:spPr bwMode="auto">
          <a:xfrm>
            <a:off x="1828801" y="3733801"/>
            <a:ext cx="7121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b="1">
                <a:solidFill>
                  <a:srgbClr val="0C0C00"/>
                </a:solidFill>
                <a:latin typeface="Arial" pitchFamily="34" charset="0"/>
                <a:cs typeface="Arial" pitchFamily="34" charset="0"/>
              </a:rPr>
              <a:t>Type 2 or “Neuman” :  Fixed gradient   K</a:t>
            </a:r>
            <a:r>
              <a:rPr lang="en-US" b="1">
                <a:solidFill>
                  <a:srgbClr val="0C0C00"/>
                </a:solidFill>
                <a:latin typeface="Arial" pitchFamily="34" charset="0"/>
                <a:ea typeface="Cambria Math" pitchFamily="18" charset="0"/>
                <a:cs typeface="Arial" pitchFamily="34" charset="0"/>
              </a:rPr>
              <a:t>·</a:t>
            </a:r>
            <a:r>
              <a:rPr lang="en-US" b="1">
                <a:solidFill>
                  <a:srgbClr val="0C0C00"/>
                </a:solidFill>
                <a:latin typeface="Arial" pitchFamily="34" charset="0"/>
                <a:cs typeface="Arial" pitchFamily="34" charset="0"/>
                <a:sym typeface="Euclid Symbol" pitchFamily="18" charset="2"/>
              </a:rPr>
              <a:t></a:t>
            </a:r>
            <a:r>
              <a:rPr lang="en-US" b="1">
                <a:solidFill>
                  <a:srgbClr val="0C0C00"/>
                </a:solidFill>
                <a:latin typeface="Arial" pitchFamily="34" charset="0"/>
                <a:cs typeface="Arial" pitchFamily="34" charset="0"/>
              </a:rPr>
              <a:t>h=q</a:t>
            </a:r>
            <a:r>
              <a:rPr lang="en-US" b="1" baseline="-25000">
                <a:solidFill>
                  <a:srgbClr val="0C0C00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1269" name="Line 31"/>
          <p:cNvSpPr>
            <a:spLocks noChangeShapeType="1"/>
          </p:cNvSpPr>
          <p:nvPr/>
        </p:nvSpPr>
        <p:spPr bwMode="auto">
          <a:xfrm>
            <a:off x="1905000" y="4191000"/>
            <a:ext cx="1066800" cy="0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0" name="Line 33"/>
          <p:cNvSpPr>
            <a:spLocks noChangeShapeType="1"/>
          </p:cNvSpPr>
          <p:nvPr/>
        </p:nvSpPr>
        <p:spPr bwMode="auto">
          <a:xfrm>
            <a:off x="1847850" y="1800225"/>
            <a:ext cx="1066800" cy="0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271" name="Groupe 147"/>
          <p:cNvGrpSpPr>
            <a:grpSpLocks/>
          </p:cNvGrpSpPr>
          <p:nvPr/>
        </p:nvGrpSpPr>
        <p:grpSpPr bwMode="auto">
          <a:xfrm>
            <a:off x="2743201" y="1828801"/>
            <a:ext cx="6874675" cy="1444625"/>
            <a:chOff x="2750127" y="2055374"/>
            <a:chExt cx="5356890" cy="690207"/>
          </a:xfrm>
        </p:grpSpPr>
        <p:sp>
          <p:nvSpPr>
            <p:cNvPr id="11320" name="Freeform 59"/>
            <p:cNvSpPr>
              <a:spLocks/>
            </p:cNvSpPr>
            <p:nvPr/>
          </p:nvSpPr>
          <p:spPr bwMode="auto">
            <a:xfrm>
              <a:off x="3648075" y="2286000"/>
              <a:ext cx="1009650" cy="230187"/>
            </a:xfrm>
            <a:custGeom>
              <a:avLst/>
              <a:gdLst>
                <a:gd name="T0" fmla="*/ 0 w 1009650"/>
                <a:gd name="T1" fmla="*/ 0 h 230187"/>
                <a:gd name="T2" fmla="*/ 171450 w 1009650"/>
                <a:gd name="T3" fmla="*/ 9525 h 230187"/>
                <a:gd name="T4" fmla="*/ 400050 w 1009650"/>
                <a:gd name="T5" fmla="*/ 47625 h 230187"/>
                <a:gd name="T6" fmla="*/ 723900 w 1009650"/>
                <a:gd name="T7" fmla="*/ 161925 h 230187"/>
                <a:gd name="T8" fmla="*/ 819150 w 1009650"/>
                <a:gd name="T9" fmla="*/ 219075 h 230187"/>
                <a:gd name="T10" fmla="*/ 1009650 w 1009650"/>
                <a:gd name="T11" fmla="*/ 228600 h 230187"/>
                <a:gd name="T12" fmla="*/ 1009650 w 1009650"/>
                <a:gd name="T13" fmla="*/ 228600 h 2301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09650"/>
                <a:gd name="T22" fmla="*/ 0 h 230187"/>
                <a:gd name="T23" fmla="*/ 1009650 w 1009650"/>
                <a:gd name="T24" fmla="*/ 230187 h 23018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09650" h="230187">
                  <a:moveTo>
                    <a:pt x="0" y="0"/>
                  </a:moveTo>
                  <a:cubicBezTo>
                    <a:pt x="52387" y="794"/>
                    <a:pt x="104775" y="1588"/>
                    <a:pt x="171450" y="9525"/>
                  </a:cubicBezTo>
                  <a:cubicBezTo>
                    <a:pt x="238125" y="17462"/>
                    <a:pt x="307975" y="22225"/>
                    <a:pt x="400050" y="47625"/>
                  </a:cubicBezTo>
                  <a:cubicBezTo>
                    <a:pt x="492125" y="73025"/>
                    <a:pt x="654050" y="133350"/>
                    <a:pt x="723900" y="161925"/>
                  </a:cubicBezTo>
                  <a:cubicBezTo>
                    <a:pt x="793750" y="190500"/>
                    <a:pt x="771525" y="207963"/>
                    <a:pt x="819150" y="219075"/>
                  </a:cubicBezTo>
                  <a:cubicBezTo>
                    <a:pt x="866775" y="230187"/>
                    <a:pt x="1009650" y="228600"/>
                    <a:pt x="1009650" y="228600"/>
                  </a:cubicBezTo>
                </a:path>
              </a:pathLst>
            </a:custGeom>
            <a:noFill/>
            <a:ln w="19050" cap="flat" cmpd="sng" algn="ctr">
              <a:solidFill>
                <a:srgbClr val="0033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11321" name="Straight Connector 61"/>
            <p:cNvCxnSpPr>
              <a:cxnSpLocks noChangeShapeType="1"/>
            </p:cNvCxnSpPr>
            <p:nvPr/>
          </p:nvCxnSpPr>
          <p:spPr bwMode="auto">
            <a:xfrm>
              <a:off x="3648075" y="2743200"/>
              <a:ext cx="1014413" cy="2381"/>
            </a:xfrm>
            <a:prstGeom prst="line">
              <a:avLst/>
            </a:prstGeom>
            <a:noFill/>
            <a:ln w="19050" algn="ctr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322" name="Freeform 37"/>
            <p:cNvSpPr>
              <a:spLocks/>
            </p:cNvSpPr>
            <p:nvPr/>
          </p:nvSpPr>
          <p:spPr bwMode="auto">
            <a:xfrm>
              <a:off x="4530166" y="2357930"/>
              <a:ext cx="102413" cy="104698"/>
            </a:xfrm>
            <a:custGeom>
              <a:avLst/>
              <a:gdLst>
                <a:gd name="T0" fmla="*/ 0 w 225"/>
                <a:gd name="T1" fmla="*/ 0 h 150"/>
                <a:gd name="T2" fmla="*/ 2147483647 w 225"/>
                <a:gd name="T3" fmla="*/ 0 h 150"/>
                <a:gd name="T4" fmla="*/ 2147483647 w 225"/>
                <a:gd name="T5" fmla="*/ 2147483647 h 150"/>
                <a:gd name="T6" fmla="*/ 0 w 225"/>
                <a:gd name="T7" fmla="*/ 0 h 1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5"/>
                <a:gd name="T13" fmla="*/ 0 h 150"/>
                <a:gd name="T14" fmla="*/ 225 w 225"/>
                <a:gd name="T15" fmla="*/ 150 h 1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5" h="150">
                  <a:moveTo>
                    <a:pt x="0" y="0"/>
                  </a:moveTo>
                  <a:lnTo>
                    <a:pt x="225" y="0"/>
                  </a:lnTo>
                  <a:lnTo>
                    <a:pt x="111" y="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solidFill>
                <a:srgbClr val="0C0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11323" name="Straight Connector 67"/>
            <p:cNvCxnSpPr>
              <a:cxnSpLocks noChangeShapeType="1"/>
            </p:cNvCxnSpPr>
            <p:nvPr/>
          </p:nvCxnSpPr>
          <p:spPr bwMode="auto">
            <a:xfrm flipV="1">
              <a:off x="3648075" y="2286000"/>
              <a:ext cx="0" cy="457200"/>
            </a:xfrm>
            <a:prstGeom prst="line">
              <a:avLst/>
            </a:prstGeom>
            <a:noFill/>
            <a:ln w="19050" algn="ctr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24" name="Straight Connector 70"/>
            <p:cNvCxnSpPr>
              <a:cxnSpLocks noChangeShapeType="1"/>
              <a:endCxn id="11320" idx="5"/>
            </p:cNvCxnSpPr>
            <p:nvPr/>
          </p:nvCxnSpPr>
          <p:spPr bwMode="auto">
            <a:xfrm flipV="1">
              <a:off x="4657725" y="2514600"/>
              <a:ext cx="0" cy="223838"/>
            </a:xfrm>
            <a:prstGeom prst="line">
              <a:avLst/>
            </a:prstGeom>
            <a:noFill/>
            <a:ln w="12700" algn="ctr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325" name="Freeform 84"/>
            <p:cNvSpPr>
              <a:spLocks/>
            </p:cNvSpPr>
            <p:nvPr/>
          </p:nvSpPr>
          <p:spPr bwMode="auto">
            <a:xfrm>
              <a:off x="3824288" y="2445544"/>
              <a:ext cx="731043" cy="199628"/>
            </a:xfrm>
            <a:custGeom>
              <a:avLst/>
              <a:gdLst>
                <a:gd name="T0" fmla="*/ 0 w 731043"/>
                <a:gd name="T1" fmla="*/ 0 h 199628"/>
                <a:gd name="T2" fmla="*/ 88106 w 731043"/>
                <a:gd name="T3" fmla="*/ 104775 h 199628"/>
                <a:gd name="T4" fmla="*/ 290512 w 731043"/>
                <a:gd name="T5" fmla="*/ 166687 h 199628"/>
                <a:gd name="T6" fmla="*/ 631031 w 731043"/>
                <a:gd name="T7" fmla="*/ 190500 h 199628"/>
                <a:gd name="T8" fmla="*/ 731043 w 731043"/>
                <a:gd name="T9" fmla="*/ 111919 h 199628"/>
                <a:gd name="T10" fmla="*/ 731043 w 731043"/>
                <a:gd name="T11" fmla="*/ 111919 h 1996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31043"/>
                <a:gd name="T19" fmla="*/ 0 h 199628"/>
                <a:gd name="T20" fmla="*/ 731043 w 731043"/>
                <a:gd name="T21" fmla="*/ 199628 h 1996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31043" h="199628">
                  <a:moveTo>
                    <a:pt x="0" y="0"/>
                  </a:moveTo>
                  <a:cubicBezTo>
                    <a:pt x="19843" y="38497"/>
                    <a:pt x="39687" y="76994"/>
                    <a:pt x="88106" y="104775"/>
                  </a:cubicBezTo>
                  <a:cubicBezTo>
                    <a:pt x="136525" y="132556"/>
                    <a:pt x="200025" y="152400"/>
                    <a:pt x="290512" y="166687"/>
                  </a:cubicBezTo>
                  <a:cubicBezTo>
                    <a:pt x="380999" y="180974"/>
                    <a:pt x="557609" y="199628"/>
                    <a:pt x="631031" y="190500"/>
                  </a:cubicBezTo>
                  <a:cubicBezTo>
                    <a:pt x="704453" y="181372"/>
                    <a:pt x="731043" y="111919"/>
                    <a:pt x="731043" y="111919"/>
                  </a:cubicBezTo>
                </a:path>
              </a:pathLst>
            </a:custGeom>
            <a:noFill/>
            <a:ln w="12700" cap="flat" cmpd="sng" algn="ctr">
              <a:solidFill>
                <a:srgbClr val="0033CC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6" name="Freeform 91"/>
            <p:cNvSpPr>
              <a:spLocks/>
            </p:cNvSpPr>
            <p:nvPr/>
          </p:nvSpPr>
          <p:spPr bwMode="auto">
            <a:xfrm>
              <a:off x="5029200" y="2286000"/>
              <a:ext cx="1009650" cy="228600"/>
            </a:xfrm>
            <a:custGeom>
              <a:avLst/>
              <a:gdLst>
                <a:gd name="T0" fmla="*/ 0 w 1009650"/>
                <a:gd name="T1" fmla="*/ 0 h 228600"/>
                <a:gd name="T2" fmla="*/ 171450 w 1009650"/>
                <a:gd name="T3" fmla="*/ 9525 h 228600"/>
                <a:gd name="T4" fmla="*/ 400050 w 1009650"/>
                <a:gd name="T5" fmla="*/ 47625 h 228600"/>
                <a:gd name="T6" fmla="*/ 758647 w 1009650"/>
                <a:gd name="T7" fmla="*/ 121691 h 228600"/>
                <a:gd name="T8" fmla="*/ 925220 w 1009650"/>
                <a:gd name="T9" fmla="*/ 175184 h 228600"/>
                <a:gd name="T10" fmla="*/ 1009650 w 1009650"/>
                <a:gd name="T11" fmla="*/ 228600 h 228600"/>
                <a:gd name="T12" fmla="*/ 1009650 w 1009650"/>
                <a:gd name="T13" fmla="*/ 228600 h 2286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09650"/>
                <a:gd name="T22" fmla="*/ 0 h 228600"/>
                <a:gd name="T23" fmla="*/ 1009650 w 1009650"/>
                <a:gd name="T24" fmla="*/ 228600 h 2286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09650" h="228600">
                  <a:moveTo>
                    <a:pt x="0" y="0"/>
                  </a:moveTo>
                  <a:cubicBezTo>
                    <a:pt x="52387" y="794"/>
                    <a:pt x="104775" y="1588"/>
                    <a:pt x="171450" y="9525"/>
                  </a:cubicBezTo>
                  <a:cubicBezTo>
                    <a:pt x="238125" y="17462"/>
                    <a:pt x="302184" y="28931"/>
                    <a:pt x="400050" y="47625"/>
                  </a:cubicBezTo>
                  <a:cubicBezTo>
                    <a:pt x="497916" y="66319"/>
                    <a:pt x="671119" y="100431"/>
                    <a:pt x="758647" y="121691"/>
                  </a:cubicBezTo>
                  <a:cubicBezTo>
                    <a:pt x="846175" y="142951"/>
                    <a:pt x="883386" y="157366"/>
                    <a:pt x="925220" y="175184"/>
                  </a:cubicBezTo>
                  <a:cubicBezTo>
                    <a:pt x="967054" y="193002"/>
                    <a:pt x="995578" y="219697"/>
                    <a:pt x="1009650" y="228600"/>
                  </a:cubicBezTo>
                </a:path>
              </a:pathLst>
            </a:custGeom>
            <a:noFill/>
            <a:ln w="19050" cap="flat" cmpd="sng" algn="ctr">
              <a:solidFill>
                <a:srgbClr val="0033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11327" name="Straight Connector 92"/>
            <p:cNvCxnSpPr>
              <a:cxnSpLocks noChangeShapeType="1"/>
            </p:cNvCxnSpPr>
            <p:nvPr/>
          </p:nvCxnSpPr>
          <p:spPr bwMode="auto">
            <a:xfrm>
              <a:off x="5029200" y="2743200"/>
              <a:ext cx="1014413" cy="2381"/>
            </a:xfrm>
            <a:prstGeom prst="line">
              <a:avLst/>
            </a:prstGeom>
            <a:noFill/>
            <a:ln w="19050" algn="ctr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328" name="Freeform 37"/>
            <p:cNvSpPr>
              <a:spLocks/>
            </p:cNvSpPr>
            <p:nvPr/>
          </p:nvSpPr>
          <p:spPr bwMode="auto">
            <a:xfrm>
              <a:off x="6042354" y="2397557"/>
              <a:ext cx="83345" cy="97384"/>
            </a:xfrm>
            <a:custGeom>
              <a:avLst/>
              <a:gdLst>
                <a:gd name="T0" fmla="*/ 0 w 225"/>
                <a:gd name="T1" fmla="*/ 0 h 150"/>
                <a:gd name="T2" fmla="*/ 2147483647 w 225"/>
                <a:gd name="T3" fmla="*/ 0 h 150"/>
                <a:gd name="T4" fmla="*/ 2147483647 w 225"/>
                <a:gd name="T5" fmla="*/ 2147483647 h 150"/>
                <a:gd name="T6" fmla="*/ 0 w 225"/>
                <a:gd name="T7" fmla="*/ 0 h 1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5"/>
                <a:gd name="T13" fmla="*/ 0 h 150"/>
                <a:gd name="T14" fmla="*/ 225 w 225"/>
                <a:gd name="T15" fmla="*/ 150 h 1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5" h="150">
                  <a:moveTo>
                    <a:pt x="0" y="0"/>
                  </a:moveTo>
                  <a:lnTo>
                    <a:pt x="225" y="0"/>
                  </a:lnTo>
                  <a:lnTo>
                    <a:pt x="111" y="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solidFill>
                <a:srgbClr val="0C0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11329" name="Straight Connector 94"/>
            <p:cNvCxnSpPr>
              <a:cxnSpLocks noChangeShapeType="1"/>
            </p:cNvCxnSpPr>
            <p:nvPr/>
          </p:nvCxnSpPr>
          <p:spPr bwMode="auto">
            <a:xfrm flipV="1">
              <a:off x="5029200" y="2286000"/>
              <a:ext cx="0" cy="457200"/>
            </a:xfrm>
            <a:prstGeom prst="line">
              <a:avLst/>
            </a:prstGeom>
            <a:noFill/>
            <a:ln w="19050" algn="ctr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30" name="Straight Connector 95"/>
            <p:cNvCxnSpPr>
              <a:cxnSpLocks noChangeShapeType="1"/>
              <a:endCxn id="11326" idx="5"/>
            </p:cNvCxnSpPr>
            <p:nvPr/>
          </p:nvCxnSpPr>
          <p:spPr bwMode="auto">
            <a:xfrm flipV="1">
              <a:off x="6038850" y="2514600"/>
              <a:ext cx="0" cy="223838"/>
            </a:xfrm>
            <a:prstGeom prst="line">
              <a:avLst/>
            </a:prstGeom>
            <a:noFill/>
            <a:ln w="12700" algn="ctr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331" name="Freeform 96"/>
            <p:cNvSpPr>
              <a:spLocks/>
            </p:cNvSpPr>
            <p:nvPr/>
          </p:nvSpPr>
          <p:spPr bwMode="auto">
            <a:xfrm>
              <a:off x="5205413" y="2445545"/>
              <a:ext cx="978369" cy="214611"/>
            </a:xfrm>
            <a:custGeom>
              <a:avLst/>
              <a:gdLst>
                <a:gd name="T0" fmla="*/ 0 w 978369"/>
                <a:gd name="T1" fmla="*/ 0 h 214611"/>
                <a:gd name="T2" fmla="*/ 88106 w 978369"/>
                <a:gd name="T3" fmla="*/ 104775 h 214611"/>
                <a:gd name="T4" fmla="*/ 290512 w 978369"/>
                <a:gd name="T5" fmla="*/ 166687 h 214611"/>
                <a:gd name="T6" fmla="*/ 634688 w 978369"/>
                <a:gd name="T7" fmla="*/ 201473 h 214611"/>
                <a:gd name="T8" fmla="*/ 796709 w 978369"/>
                <a:gd name="T9" fmla="*/ 208654 h 214611"/>
                <a:gd name="T10" fmla="*/ 978369 w 978369"/>
                <a:gd name="T11" fmla="*/ 207435 h 2146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78369"/>
                <a:gd name="T19" fmla="*/ 0 h 214611"/>
                <a:gd name="T20" fmla="*/ 978369 w 978369"/>
                <a:gd name="T21" fmla="*/ 214611 h 21461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78369" h="214611">
                  <a:moveTo>
                    <a:pt x="0" y="0"/>
                  </a:moveTo>
                  <a:cubicBezTo>
                    <a:pt x="19843" y="38497"/>
                    <a:pt x="39687" y="76994"/>
                    <a:pt x="88106" y="104775"/>
                  </a:cubicBezTo>
                  <a:cubicBezTo>
                    <a:pt x="136525" y="132556"/>
                    <a:pt x="199415" y="150571"/>
                    <a:pt x="290512" y="166687"/>
                  </a:cubicBezTo>
                  <a:cubicBezTo>
                    <a:pt x="381609" y="182803"/>
                    <a:pt x="495458" y="200575"/>
                    <a:pt x="634688" y="201473"/>
                  </a:cubicBezTo>
                  <a:lnTo>
                    <a:pt x="796709" y="208654"/>
                  </a:lnTo>
                  <a:cubicBezTo>
                    <a:pt x="853989" y="206600"/>
                    <a:pt x="921530" y="214611"/>
                    <a:pt x="978369" y="207435"/>
                  </a:cubicBezTo>
                </a:path>
              </a:pathLst>
            </a:custGeom>
            <a:noFill/>
            <a:ln w="12700" cap="flat" cmpd="sng" algn="ctr">
              <a:solidFill>
                <a:srgbClr val="0033CC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2" name="TextBox 97"/>
            <p:cNvSpPr txBox="1">
              <a:spLocks noChangeArrowheads="1"/>
            </p:cNvSpPr>
            <p:nvPr/>
          </p:nvSpPr>
          <p:spPr bwMode="auto">
            <a:xfrm>
              <a:off x="4569791" y="2304290"/>
              <a:ext cx="306277" cy="161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0033CC"/>
                  </a:solidFill>
                  <a:latin typeface="Arial" pitchFamily="34" charset="0"/>
                  <a:cs typeface="Arial" pitchFamily="34" charset="0"/>
                </a:rPr>
                <a:t>h</a:t>
              </a:r>
              <a:r>
                <a:rPr lang="en-US" sz="1600" b="1" baseline="-25000">
                  <a:solidFill>
                    <a:srgbClr val="0033CC"/>
                  </a:solidFill>
                  <a:latin typeface="Arial" pitchFamily="34" charset="0"/>
                  <a:cs typeface="Arial" pitchFamily="34" charset="0"/>
                </a:rPr>
                <a:t>o</a:t>
              </a:r>
            </a:p>
          </p:txBody>
        </p:sp>
        <p:cxnSp>
          <p:nvCxnSpPr>
            <p:cNvPr id="11333" name="Straight Connector 100"/>
            <p:cNvCxnSpPr>
              <a:cxnSpLocks noChangeShapeType="1"/>
            </p:cNvCxnSpPr>
            <p:nvPr/>
          </p:nvCxnSpPr>
          <p:spPr bwMode="auto">
            <a:xfrm>
              <a:off x="6056380" y="2514600"/>
              <a:ext cx="77416" cy="610"/>
            </a:xfrm>
            <a:prstGeom prst="line">
              <a:avLst/>
            </a:prstGeom>
            <a:noFill/>
            <a:ln w="12700" algn="ctr">
              <a:solidFill>
                <a:srgbClr val="0033CC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334" name="TextBox 103"/>
            <p:cNvSpPr txBox="1">
              <a:spLocks noChangeArrowheads="1"/>
            </p:cNvSpPr>
            <p:nvPr/>
          </p:nvSpPr>
          <p:spPr bwMode="auto">
            <a:xfrm>
              <a:off x="6056380" y="2354884"/>
              <a:ext cx="306277" cy="161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0033CC"/>
                  </a:solidFill>
                  <a:latin typeface="Arial" pitchFamily="34" charset="0"/>
                  <a:cs typeface="Arial" pitchFamily="34" charset="0"/>
                </a:rPr>
                <a:t>h</a:t>
              </a:r>
              <a:r>
                <a:rPr lang="en-US" sz="1600" b="1" baseline="-25000">
                  <a:solidFill>
                    <a:srgbClr val="0033CC"/>
                  </a:solidFill>
                  <a:latin typeface="Arial" pitchFamily="34" charset="0"/>
                  <a:cs typeface="Arial" pitchFamily="34" charset="0"/>
                </a:rPr>
                <a:t>o</a:t>
              </a:r>
            </a:p>
          </p:txBody>
        </p:sp>
        <p:cxnSp>
          <p:nvCxnSpPr>
            <p:cNvPr id="11335" name="Straight Connector 104"/>
            <p:cNvCxnSpPr>
              <a:cxnSpLocks noChangeShapeType="1"/>
            </p:cNvCxnSpPr>
            <p:nvPr/>
          </p:nvCxnSpPr>
          <p:spPr bwMode="auto">
            <a:xfrm flipH="1">
              <a:off x="6062471" y="2534106"/>
              <a:ext cx="1832" cy="206655"/>
            </a:xfrm>
            <a:prstGeom prst="line">
              <a:avLst/>
            </a:prstGeom>
            <a:noFill/>
            <a:ln w="12700" algn="ctr">
              <a:solidFill>
                <a:srgbClr val="0033CC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36" name="Straight Connector 106"/>
            <p:cNvCxnSpPr>
              <a:cxnSpLocks noChangeShapeType="1"/>
            </p:cNvCxnSpPr>
            <p:nvPr/>
          </p:nvCxnSpPr>
          <p:spPr bwMode="auto">
            <a:xfrm>
              <a:off x="4468601" y="2485951"/>
              <a:ext cx="182266" cy="3655"/>
            </a:xfrm>
            <a:prstGeom prst="line">
              <a:avLst/>
            </a:prstGeom>
            <a:noFill/>
            <a:ln w="12700" algn="ctr">
              <a:solidFill>
                <a:srgbClr val="0033CC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337" name="TextBox 111"/>
            <p:cNvSpPr txBox="1">
              <a:spLocks noChangeArrowheads="1"/>
            </p:cNvSpPr>
            <p:nvPr/>
          </p:nvSpPr>
          <p:spPr bwMode="auto">
            <a:xfrm>
              <a:off x="2750127" y="2163195"/>
              <a:ext cx="586075" cy="191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sz="2000">
                  <a:solidFill>
                    <a:srgbClr val="0C0C00"/>
                  </a:solidFill>
                  <a:latin typeface="Arial" pitchFamily="34" charset="0"/>
                  <a:cs typeface="Arial" pitchFamily="34" charset="0"/>
                </a:rPr>
                <a:t>e.g. :</a:t>
              </a:r>
              <a:endParaRPr lang="en-US" sz="2000" baseline="-25000">
                <a:solidFill>
                  <a:srgbClr val="0C0C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338" name="Freeform 112"/>
            <p:cNvSpPr>
              <a:spLocks/>
            </p:cNvSpPr>
            <p:nvPr/>
          </p:nvSpPr>
          <p:spPr bwMode="auto">
            <a:xfrm>
              <a:off x="6805298" y="2286000"/>
              <a:ext cx="1009650" cy="228600"/>
            </a:xfrm>
            <a:custGeom>
              <a:avLst/>
              <a:gdLst>
                <a:gd name="T0" fmla="*/ 0 w 1009650"/>
                <a:gd name="T1" fmla="*/ 0 h 228600"/>
                <a:gd name="T2" fmla="*/ 171450 w 1009650"/>
                <a:gd name="T3" fmla="*/ 9525 h 228600"/>
                <a:gd name="T4" fmla="*/ 400050 w 1009650"/>
                <a:gd name="T5" fmla="*/ 47625 h 228600"/>
                <a:gd name="T6" fmla="*/ 758647 w 1009650"/>
                <a:gd name="T7" fmla="*/ 121691 h 228600"/>
                <a:gd name="T8" fmla="*/ 925220 w 1009650"/>
                <a:gd name="T9" fmla="*/ 175184 h 228600"/>
                <a:gd name="T10" fmla="*/ 1009650 w 1009650"/>
                <a:gd name="T11" fmla="*/ 228600 h 228600"/>
                <a:gd name="T12" fmla="*/ 1009650 w 1009650"/>
                <a:gd name="T13" fmla="*/ 228600 h 2286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09650"/>
                <a:gd name="T22" fmla="*/ 0 h 228600"/>
                <a:gd name="T23" fmla="*/ 1009650 w 1009650"/>
                <a:gd name="T24" fmla="*/ 228600 h 2286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09650" h="228600">
                  <a:moveTo>
                    <a:pt x="0" y="0"/>
                  </a:moveTo>
                  <a:cubicBezTo>
                    <a:pt x="52387" y="794"/>
                    <a:pt x="104775" y="1588"/>
                    <a:pt x="171450" y="9525"/>
                  </a:cubicBezTo>
                  <a:cubicBezTo>
                    <a:pt x="238125" y="17462"/>
                    <a:pt x="302184" y="28931"/>
                    <a:pt x="400050" y="47625"/>
                  </a:cubicBezTo>
                  <a:cubicBezTo>
                    <a:pt x="497916" y="66319"/>
                    <a:pt x="671119" y="100431"/>
                    <a:pt x="758647" y="121691"/>
                  </a:cubicBezTo>
                  <a:cubicBezTo>
                    <a:pt x="846175" y="142951"/>
                    <a:pt x="883386" y="157366"/>
                    <a:pt x="925220" y="175184"/>
                  </a:cubicBezTo>
                  <a:cubicBezTo>
                    <a:pt x="967054" y="193002"/>
                    <a:pt x="995578" y="219697"/>
                    <a:pt x="1009650" y="228600"/>
                  </a:cubicBezTo>
                </a:path>
              </a:pathLst>
            </a:custGeom>
            <a:noFill/>
            <a:ln w="19050" cap="flat" cmpd="sng" algn="ctr">
              <a:solidFill>
                <a:srgbClr val="0033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11339" name="Straight Connector 113"/>
            <p:cNvCxnSpPr>
              <a:cxnSpLocks noChangeShapeType="1"/>
            </p:cNvCxnSpPr>
            <p:nvPr/>
          </p:nvCxnSpPr>
          <p:spPr bwMode="auto">
            <a:xfrm>
              <a:off x="6805298" y="2743200"/>
              <a:ext cx="1014413" cy="2381"/>
            </a:xfrm>
            <a:prstGeom prst="line">
              <a:avLst/>
            </a:prstGeom>
            <a:noFill/>
            <a:ln w="19050" algn="ctr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340" name="Freeform 37"/>
            <p:cNvSpPr>
              <a:spLocks/>
            </p:cNvSpPr>
            <p:nvPr/>
          </p:nvSpPr>
          <p:spPr bwMode="auto">
            <a:xfrm>
              <a:off x="7818452" y="2397557"/>
              <a:ext cx="83345" cy="97384"/>
            </a:xfrm>
            <a:custGeom>
              <a:avLst/>
              <a:gdLst>
                <a:gd name="T0" fmla="*/ 0 w 225"/>
                <a:gd name="T1" fmla="*/ 0 h 150"/>
                <a:gd name="T2" fmla="*/ 2147483647 w 225"/>
                <a:gd name="T3" fmla="*/ 0 h 150"/>
                <a:gd name="T4" fmla="*/ 2147483647 w 225"/>
                <a:gd name="T5" fmla="*/ 2147483647 h 150"/>
                <a:gd name="T6" fmla="*/ 0 w 225"/>
                <a:gd name="T7" fmla="*/ 0 h 1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5"/>
                <a:gd name="T13" fmla="*/ 0 h 150"/>
                <a:gd name="T14" fmla="*/ 225 w 225"/>
                <a:gd name="T15" fmla="*/ 150 h 1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5" h="150">
                  <a:moveTo>
                    <a:pt x="0" y="0"/>
                  </a:moveTo>
                  <a:lnTo>
                    <a:pt x="225" y="0"/>
                  </a:lnTo>
                  <a:lnTo>
                    <a:pt x="111" y="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solidFill>
                <a:srgbClr val="0C0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11341" name="Straight Connector 115"/>
            <p:cNvCxnSpPr>
              <a:cxnSpLocks noChangeShapeType="1"/>
            </p:cNvCxnSpPr>
            <p:nvPr/>
          </p:nvCxnSpPr>
          <p:spPr bwMode="auto">
            <a:xfrm flipV="1">
              <a:off x="6805298" y="2286000"/>
              <a:ext cx="0" cy="457200"/>
            </a:xfrm>
            <a:prstGeom prst="line">
              <a:avLst/>
            </a:prstGeom>
            <a:noFill/>
            <a:ln w="19050" algn="ctr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42" name="Straight Connector 116"/>
            <p:cNvCxnSpPr>
              <a:cxnSpLocks noChangeShapeType="1"/>
              <a:endCxn id="11338" idx="5"/>
            </p:cNvCxnSpPr>
            <p:nvPr/>
          </p:nvCxnSpPr>
          <p:spPr bwMode="auto">
            <a:xfrm flipV="1">
              <a:off x="7814948" y="2514600"/>
              <a:ext cx="0" cy="223838"/>
            </a:xfrm>
            <a:prstGeom prst="line">
              <a:avLst/>
            </a:prstGeom>
            <a:noFill/>
            <a:ln w="12700" algn="ctr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343" name="Freeform 117"/>
            <p:cNvSpPr>
              <a:spLocks/>
            </p:cNvSpPr>
            <p:nvPr/>
          </p:nvSpPr>
          <p:spPr bwMode="auto">
            <a:xfrm>
              <a:off x="6652899" y="2445545"/>
              <a:ext cx="1306982" cy="214611"/>
            </a:xfrm>
            <a:custGeom>
              <a:avLst/>
              <a:gdLst>
                <a:gd name="T0" fmla="*/ 0 w 978369"/>
                <a:gd name="T1" fmla="*/ 0 h 214611"/>
                <a:gd name="T2" fmla="*/ 68809283 w 978369"/>
                <a:gd name="T3" fmla="*/ 104775 h 214611"/>
                <a:gd name="T4" fmla="*/ 226883390 w 978369"/>
                <a:gd name="T5" fmla="*/ 166687 h 214611"/>
                <a:gd name="T6" fmla="*/ 495676330 w 978369"/>
                <a:gd name="T7" fmla="*/ 201473 h 214611"/>
                <a:gd name="T8" fmla="*/ 622211382 w 978369"/>
                <a:gd name="T9" fmla="*/ 208654 h 214611"/>
                <a:gd name="T10" fmla="*/ 764083255 w 978369"/>
                <a:gd name="T11" fmla="*/ 207435 h 2146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78369"/>
                <a:gd name="T19" fmla="*/ 0 h 214611"/>
                <a:gd name="T20" fmla="*/ 978369 w 978369"/>
                <a:gd name="T21" fmla="*/ 214611 h 21461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78369" h="214611">
                  <a:moveTo>
                    <a:pt x="0" y="0"/>
                  </a:moveTo>
                  <a:cubicBezTo>
                    <a:pt x="19843" y="38497"/>
                    <a:pt x="39687" y="76994"/>
                    <a:pt x="88106" y="104775"/>
                  </a:cubicBezTo>
                  <a:cubicBezTo>
                    <a:pt x="136525" y="132556"/>
                    <a:pt x="199415" y="150571"/>
                    <a:pt x="290512" y="166687"/>
                  </a:cubicBezTo>
                  <a:cubicBezTo>
                    <a:pt x="381609" y="182803"/>
                    <a:pt x="495458" y="200575"/>
                    <a:pt x="634688" y="201473"/>
                  </a:cubicBezTo>
                  <a:lnTo>
                    <a:pt x="796709" y="208654"/>
                  </a:lnTo>
                  <a:cubicBezTo>
                    <a:pt x="853989" y="206600"/>
                    <a:pt x="921530" y="214611"/>
                    <a:pt x="978369" y="207435"/>
                  </a:cubicBezTo>
                </a:path>
              </a:pathLst>
            </a:custGeom>
            <a:noFill/>
            <a:ln w="12700" cap="flat" cmpd="sng" algn="ctr">
              <a:solidFill>
                <a:srgbClr val="0033CC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11344" name="Straight Connector 118"/>
            <p:cNvCxnSpPr>
              <a:cxnSpLocks noChangeShapeType="1"/>
            </p:cNvCxnSpPr>
            <p:nvPr/>
          </p:nvCxnSpPr>
          <p:spPr bwMode="auto">
            <a:xfrm>
              <a:off x="7832478" y="2514600"/>
              <a:ext cx="77416" cy="610"/>
            </a:xfrm>
            <a:prstGeom prst="line">
              <a:avLst/>
            </a:prstGeom>
            <a:noFill/>
            <a:ln w="12700" algn="ctr">
              <a:solidFill>
                <a:srgbClr val="0033CC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0" name="TextBox 119"/>
            <p:cNvSpPr txBox="1"/>
            <p:nvPr/>
          </p:nvSpPr>
          <p:spPr>
            <a:xfrm>
              <a:off x="7833014" y="2354970"/>
              <a:ext cx="236328" cy="12131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050" dirty="0">
                  <a:solidFill>
                    <a:srgbClr val="0033CC"/>
                  </a:solidFill>
                </a:rPr>
                <a:t>h</a:t>
              </a:r>
              <a:r>
                <a:rPr lang="en-US" sz="1050" baseline="-25000" dirty="0">
                  <a:solidFill>
                    <a:srgbClr val="0033CC"/>
                  </a:solidFill>
                </a:rPr>
                <a:t>o</a:t>
              </a:r>
            </a:p>
          </p:txBody>
        </p:sp>
        <p:cxnSp>
          <p:nvCxnSpPr>
            <p:cNvPr id="11346" name="Straight Connector 120"/>
            <p:cNvCxnSpPr>
              <a:cxnSpLocks noChangeShapeType="1"/>
            </p:cNvCxnSpPr>
            <p:nvPr/>
          </p:nvCxnSpPr>
          <p:spPr bwMode="auto">
            <a:xfrm flipH="1">
              <a:off x="7838569" y="2534106"/>
              <a:ext cx="1832" cy="206655"/>
            </a:xfrm>
            <a:prstGeom prst="line">
              <a:avLst/>
            </a:prstGeom>
            <a:noFill/>
            <a:ln w="12700" algn="ctr">
              <a:solidFill>
                <a:srgbClr val="0033CC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47" name="Straight Connector 122"/>
            <p:cNvCxnSpPr>
              <a:cxnSpLocks noChangeShapeType="1"/>
            </p:cNvCxnSpPr>
            <p:nvPr/>
          </p:nvCxnSpPr>
          <p:spPr bwMode="auto">
            <a:xfrm flipH="1">
              <a:off x="6765070" y="2300235"/>
              <a:ext cx="2547" cy="415405"/>
            </a:xfrm>
            <a:prstGeom prst="line">
              <a:avLst/>
            </a:prstGeom>
            <a:noFill/>
            <a:ln w="12700" algn="ctr">
              <a:solidFill>
                <a:srgbClr val="0033CC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348" name="Freeform 37"/>
            <p:cNvSpPr>
              <a:spLocks/>
            </p:cNvSpPr>
            <p:nvPr/>
          </p:nvSpPr>
          <p:spPr bwMode="auto">
            <a:xfrm>
              <a:off x="6689952" y="2173371"/>
              <a:ext cx="83345" cy="97384"/>
            </a:xfrm>
            <a:custGeom>
              <a:avLst/>
              <a:gdLst>
                <a:gd name="T0" fmla="*/ 0 w 225"/>
                <a:gd name="T1" fmla="*/ 0 h 150"/>
                <a:gd name="T2" fmla="*/ 2147483647 w 225"/>
                <a:gd name="T3" fmla="*/ 0 h 150"/>
                <a:gd name="T4" fmla="*/ 2147483647 w 225"/>
                <a:gd name="T5" fmla="*/ 2147483647 h 150"/>
                <a:gd name="T6" fmla="*/ 0 w 225"/>
                <a:gd name="T7" fmla="*/ 0 h 1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5"/>
                <a:gd name="T13" fmla="*/ 0 h 150"/>
                <a:gd name="T14" fmla="*/ 225 w 225"/>
                <a:gd name="T15" fmla="*/ 150 h 1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5" h="150">
                  <a:moveTo>
                    <a:pt x="0" y="0"/>
                  </a:moveTo>
                  <a:lnTo>
                    <a:pt x="225" y="0"/>
                  </a:lnTo>
                  <a:lnTo>
                    <a:pt x="111" y="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solidFill>
                <a:srgbClr val="0C0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11349" name="Straight Connector 125"/>
            <p:cNvCxnSpPr>
              <a:cxnSpLocks noChangeShapeType="1"/>
            </p:cNvCxnSpPr>
            <p:nvPr/>
          </p:nvCxnSpPr>
          <p:spPr bwMode="auto">
            <a:xfrm>
              <a:off x="6678858" y="2290414"/>
              <a:ext cx="77416" cy="610"/>
            </a:xfrm>
            <a:prstGeom prst="line">
              <a:avLst/>
            </a:prstGeom>
            <a:noFill/>
            <a:ln w="12700" algn="ctr">
              <a:solidFill>
                <a:srgbClr val="0033CC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350" name="TextBox 126"/>
            <p:cNvSpPr txBox="1">
              <a:spLocks noChangeArrowheads="1"/>
            </p:cNvSpPr>
            <p:nvPr/>
          </p:nvSpPr>
          <p:spPr bwMode="auto">
            <a:xfrm>
              <a:off x="6709002" y="2055374"/>
              <a:ext cx="306277" cy="161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0033CC"/>
                  </a:solidFill>
                  <a:latin typeface="Arial" pitchFamily="34" charset="0"/>
                  <a:cs typeface="Arial" pitchFamily="34" charset="0"/>
                </a:rPr>
                <a:t>h</a:t>
              </a:r>
              <a:r>
                <a:rPr lang="en-US" sz="1600" b="1" baseline="-25000">
                  <a:solidFill>
                    <a:srgbClr val="0033CC"/>
                  </a:solidFill>
                  <a:latin typeface="Arial" pitchFamily="34" charset="0"/>
                  <a:cs typeface="Arial" pitchFamily="34" charset="0"/>
                </a:rPr>
                <a:t>o</a:t>
              </a:r>
            </a:p>
          </p:txBody>
        </p:sp>
        <p:sp>
          <p:nvSpPr>
            <p:cNvPr id="11351" name="TextBox 127"/>
            <p:cNvSpPr txBox="1">
              <a:spLocks noChangeArrowheads="1"/>
            </p:cNvSpPr>
            <p:nvPr/>
          </p:nvSpPr>
          <p:spPr bwMode="auto">
            <a:xfrm>
              <a:off x="7918154" y="2347128"/>
              <a:ext cx="188863" cy="161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0033CC"/>
                  </a:solidFill>
                  <a:latin typeface="Arial" pitchFamily="34" charset="0"/>
                  <a:ea typeface="Cambria Math" pitchFamily="18" charset="0"/>
                  <a:cs typeface="Arial" pitchFamily="34" charset="0"/>
                </a:rPr>
                <a:t>´</a:t>
              </a:r>
              <a:endParaRPr lang="en-US" sz="1600" b="1" baseline="-25000">
                <a:solidFill>
                  <a:srgbClr val="0033CC"/>
                </a:solidFill>
                <a:latin typeface="Arial" pitchFamily="34" charset="0"/>
                <a:ea typeface="Cambria Math" pitchFamily="18" charset="0"/>
                <a:cs typeface="Arial" pitchFamily="34" charset="0"/>
              </a:endParaRPr>
            </a:p>
          </p:txBody>
        </p:sp>
      </p:grpSp>
      <p:grpSp>
        <p:nvGrpSpPr>
          <p:cNvPr id="11272" name="Groupe 148"/>
          <p:cNvGrpSpPr>
            <a:grpSpLocks/>
          </p:cNvGrpSpPr>
          <p:nvPr/>
        </p:nvGrpSpPr>
        <p:grpSpPr bwMode="auto">
          <a:xfrm>
            <a:off x="2514601" y="4252913"/>
            <a:ext cx="7523163" cy="1789112"/>
            <a:chOff x="2685836" y="4252203"/>
            <a:chExt cx="5832371" cy="833106"/>
          </a:xfrm>
        </p:grpSpPr>
        <p:sp>
          <p:nvSpPr>
            <p:cNvPr id="11273" name="TextBox 211"/>
            <p:cNvSpPr txBox="1">
              <a:spLocks noChangeArrowheads="1"/>
            </p:cNvSpPr>
            <p:nvPr/>
          </p:nvSpPr>
          <p:spPr bwMode="auto">
            <a:xfrm>
              <a:off x="6350000" y="4817352"/>
              <a:ext cx="533400" cy="157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0033CC"/>
                  </a:solidFill>
                  <a:latin typeface="Arial" pitchFamily="34" charset="0"/>
                  <a:cs typeface="Arial" pitchFamily="34" charset="0"/>
                </a:rPr>
                <a:t>q</a:t>
              </a:r>
              <a:r>
                <a:rPr lang="en-US" sz="1600" b="1" baseline="-25000">
                  <a:solidFill>
                    <a:srgbClr val="0033CC"/>
                  </a:solidFill>
                  <a:latin typeface="Arial" pitchFamily="34" charset="0"/>
                  <a:cs typeface="Arial" pitchFamily="34" charset="0"/>
                </a:rPr>
                <a:t>o</a:t>
              </a:r>
              <a:r>
                <a:rPr lang="en-US" sz="1600" b="1">
                  <a:solidFill>
                    <a:srgbClr val="0033CC"/>
                  </a:solidFill>
                  <a:latin typeface="Arial" pitchFamily="34" charset="0"/>
                  <a:cs typeface="Arial" pitchFamily="34" charset="0"/>
                </a:rPr>
                <a:t>=0</a:t>
              </a:r>
            </a:p>
          </p:txBody>
        </p:sp>
        <p:sp>
          <p:nvSpPr>
            <p:cNvPr id="11274" name="TextBox 169"/>
            <p:cNvSpPr txBox="1">
              <a:spLocks noChangeArrowheads="1"/>
            </p:cNvSpPr>
            <p:nvPr/>
          </p:nvSpPr>
          <p:spPr bwMode="auto">
            <a:xfrm>
              <a:off x="4602984" y="4760483"/>
              <a:ext cx="533400" cy="1576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0033CC"/>
                  </a:solidFill>
                  <a:latin typeface="Arial" pitchFamily="34" charset="0"/>
                  <a:cs typeface="Arial" pitchFamily="34" charset="0"/>
                </a:rPr>
                <a:t>q</a:t>
              </a:r>
              <a:r>
                <a:rPr lang="en-US" sz="1600" b="1" baseline="-25000">
                  <a:solidFill>
                    <a:srgbClr val="0033CC"/>
                  </a:solidFill>
                  <a:latin typeface="Arial" pitchFamily="34" charset="0"/>
                  <a:cs typeface="Arial" pitchFamily="34" charset="0"/>
                </a:rPr>
                <a:t>o</a:t>
              </a:r>
              <a:r>
                <a:rPr lang="en-US" sz="1600" b="1">
                  <a:solidFill>
                    <a:srgbClr val="0033CC"/>
                  </a:solidFill>
                  <a:latin typeface="Arial" pitchFamily="34" charset="0"/>
                  <a:cs typeface="Arial" pitchFamily="34" charset="0"/>
                </a:rPr>
                <a:t>=0</a:t>
              </a:r>
            </a:p>
          </p:txBody>
        </p:sp>
        <p:sp>
          <p:nvSpPr>
            <p:cNvPr id="11275" name="Freeform 85"/>
            <p:cNvSpPr>
              <a:spLocks/>
            </p:cNvSpPr>
            <p:nvPr/>
          </p:nvSpPr>
          <p:spPr bwMode="auto">
            <a:xfrm>
              <a:off x="3657600" y="4554622"/>
              <a:ext cx="1009650" cy="230187"/>
            </a:xfrm>
            <a:custGeom>
              <a:avLst/>
              <a:gdLst>
                <a:gd name="T0" fmla="*/ 0 w 1009650"/>
                <a:gd name="T1" fmla="*/ 0 h 230187"/>
                <a:gd name="T2" fmla="*/ 171450 w 1009650"/>
                <a:gd name="T3" fmla="*/ 9525 h 230187"/>
                <a:gd name="T4" fmla="*/ 400050 w 1009650"/>
                <a:gd name="T5" fmla="*/ 47625 h 230187"/>
                <a:gd name="T6" fmla="*/ 723900 w 1009650"/>
                <a:gd name="T7" fmla="*/ 161925 h 230187"/>
                <a:gd name="T8" fmla="*/ 819150 w 1009650"/>
                <a:gd name="T9" fmla="*/ 219075 h 230187"/>
                <a:gd name="T10" fmla="*/ 1009650 w 1009650"/>
                <a:gd name="T11" fmla="*/ 228600 h 230187"/>
                <a:gd name="T12" fmla="*/ 1009650 w 1009650"/>
                <a:gd name="T13" fmla="*/ 228600 h 2301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09650"/>
                <a:gd name="T22" fmla="*/ 0 h 230187"/>
                <a:gd name="T23" fmla="*/ 1009650 w 1009650"/>
                <a:gd name="T24" fmla="*/ 230187 h 23018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09650" h="230187">
                  <a:moveTo>
                    <a:pt x="0" y="0"/>
                  </a:moveTo>
                  <a:cubicBezTo>
                    <a:pt x="52387" y="794"/>
                    <a:pt x="104775" y="1588"/>
                    <a:pt x="171450" y="9525"/>
                  </a:cubicBezTo>
                  <a:cubicBezTo>
                    <a:pt x="238125" y="17462"/>
                    <a:pt x="307975" y="22225"/>
                    <a:pt x="400050" y="47625"/>
                  </a:cubicBezTo>
                  <a:cubicBezTo>
                    <a:pt x="492125" y="73025"/>
                    <a:pt x="654050" y="133350"/>
                    <a:pt x="723900" y="161925"/>
                  </a:cubicBezTo>
                  <a:cubicBezTo>
                    <a:pt x="793750" y="190500"/>
                    <a:pt x="771525" y="207963"/>
                    <a:pt x="819150" y="219075"/>
                  </a:cubicBezTo>
                  <a:cubicBezTo>
                    <a:pt x="866775" y="230187"/>
                    <a:pt x="1009650" y="228600"/>
                    <a:pt x="1009650" y="228600"/>
                  </a:cubicBezTo>
                </a:path>
              </a:pathLst>
            </a:custGeom>
            <a:noFill/>
            <a:ln w="19050" cap="flat" cmpd="sng" algn="ctr">
              <a:solidFill>
                <a:srgbClr val="0033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11276" name="Straight Connector 86"/>
            <p:cNvCxnSpPr>
              <a:cxnSpLocks noChangeShapeType="1"/>
            </p:cNvCxnSpPr>
            <p:nvPr/>
          </p:nvCxnSpPr>
          <p:spPr bwMode="auto">
            <a:xfrm>
              <a:off x="3657600" y="5011822"/>
              <a:ext cx="1014413" cy="2381"/>
            </a:xfrm>
            <a:prstGeom prst="line">
              <a:avLst/>
            </a:prstGeom>
            <a:noFill/>
            <a:ln w="19050" algn="ctr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277" name="Freeform 37"/>
            <p:cNvSpPr>
              <a:spLocks/>
            </p:cNvSpPr>
            <p:nvPr/>
          </p:nvSpPr>
          <p:spPr bwMode="auto">
            <a:xfrm>
              <a:off x="4557370" y="4667535"/>
              <a:ext cx="89993" cy="92979"/>
            </a:xfrm>
            <a:custGeom>
              <a:avLst/>
              <a:gdLst>
                <a:gd name="T0" fmla="*/ 0 w 225"/>
                <a:gd name="T1" fmla="*/ 0 h 150"/>
                <a:gd name="T2" fmla="*/ 2147483647 w 225"/>
                <a:gd name="T3" fmla="*/ 0 h 150"/>
                <a:gd name="T4" fmla="*/ 2147483647 w 225"/>
                <a:gd name="T5" fmla="*/ 2147483647 h 150"/>
                <a:gd name="T6" fmla="*/ 0 w 225"/>
                <a:gd name="T7" fmla="*/ 0 h 1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5"/>
                <a:gd name="T13" fmla="*/ 0 h 150"/>
                <a:gd name="T14" fmla="*/ 225 w 225"/>
                <a:gd name="T15" fmla="*/ 150 h 1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5" h="150">
                  <a:moveTo>
                    <a:pt x="0" y="0"/>
                  </a:moveTo>
                  <a:lnTo>
                    <a:pt x="225" y="0"/>
                  </a:lnTo>
                  <a:lnTo>
                    <a:pt x="111" y="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solidFill>
                <a:srgbClr val="0C0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11278" name="Straight Connector 88"/>
            <p:cNvCxnSpPr>
              <a:cxnSpLocks noChangeShapeType="1"/>
            </p:cNvCxnSpPr>
            <p:nvPr/>
          </p:nvCxnSpPr>
          <p:spPr bwMode="auto">
            <a:xfrm flipV="1">
              <a:off x="3657600" y="4554622"/>
              <a:ext cx="0" cy="457200"/>
            </a:xfrm>
            <a:prstGeom prst="line">
              <a:avLst/>
            </a:prstGeom>
            <a:noFill/>
            <a:ln w="19050" algn="ctr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79" name="Straight Connector 89"/>
            <p:cNvCxnSpPr>
              <a:cxnSpLocks noChangeShapeType="1"/>
              <a:endCxn id="11275" idx="5"/>
            </p:cNvCxnSpPr>
            <p:nvPr/>
          </p:nvCxnSpPr>
          <p:spPr bwMode="auto">
            <a:xfrm flipV="1">
              <a:off x="4667250" y="4783222"/>
              <a:ext cx="0" cy="223838"/>
            </a:xfrm>
            <a:prstGeom prst="line">
              <a:avLst/>
            </a:prstGeom>
            <a:noFill/>
            <a:ln w="12700" algn="ctr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280" name="Freeform 90"/>
            <p:cNvSpPr>
              <a:spLocks/>
            </p:cNvSpPr>
            <p:nvPr/>
          </p:nvSpPr>
          <p:spPr bwMode="auto">
            <a:xfrm>
              <a:off x="3833813" y="4714166"/>
              <a:ext cx="731043" cy="199628"/>
            </a:xfrm>
            <a:custGeom>
              <a:avLst/>
              <a:gdLst>
                <a:gd name="T0" fmla="*/ 0 w 731043"/>
                <a:gd name="T1" fmla="*/ 0 h 199628"/>
                <a:gd name="T2" fmla="*/ 88106 w 731043"/>
                <a:gd name="T3" fmla="*/ 104775 h 199628"/>
                <a:gd name="T4" fmla="*/ 290512 w 731043"/>
                <a:gd name="T5" fmla="*/ 166687 h 199628"/>
                <a:gd name="T6" fmla="*/ 631031 w 731043"/>
                <a:gd name="T7" fmla="*/ 190500 h 199628"/>
                <a:gd name="T8" fmla="*/ 731043 w 731043"/>
                <a:gd name="T9" fmla="*/ 111919 h 199628"/>
                <a:gd name="T10" fmla="*/ 731043 w 731043"/>
                <a:gd name="T11" fmla="*/ 111919 h 1996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31043"/>
                <a:gd name="T19" fmla="*/ 0 h 199628"/>
                <a:gd name="T20" fmla="*/ 731043 w 731043"/>
                <a:gd name="T21" fmla="*/ 199628 h 1996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31043" h="199628">
                  <a:moveTo>
                    <a:pt x="0" y="0"/>
                  </a:moveTo>
                  <a:cubicBezTo>
                    <a:pt x="19843" y="38497"/>
                    <a:pt x="39687" y="76994"/>
                    <a:pt x="88106" y="104775"/>
                  </a:cubicBezTo>
                  <a:cubicBezTo>
                    <a:pt x="136525" y="132556"/>
                    <a:pt x="200025" y="152400"/>
                    <a:pt x="290512" y="166687"/>
                  </a:cubicBezTo>
                  <a:cubicBezTo>
                    <a:pt x="380999" y="180974"/>
                    <a:pt x="557609" y="199628"/>
                    <a:pt x="631031" y="190500"/>
                  </a:cubicBezTo>
                  <a:cubicBezTo>
                    <a:pt x="704453" y="181372"/>
                    <a:pt x="731043" y="111919"/>
                    <a:pt x="731043" y="111919"/>
                  </a:cubicBezTo>
                </a:path>
              </a:pathLst>
            </a:custGeom>
            <a:noFill/>
            <a:ln w="12700" cap="flat" cmpd="sng" algn="ctr">
              <a:solidFill>
                <a:srgbClr val="0033CC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11281" name="Straight Arrow Connector 129"/>
            <p:cNvCxnSpPr>
              <a:cxnSpLocks noChangeShapeType="1"/>
            </p:cNvCxnSpPr>
            <p:nvPr/>
          </p:nvCxnSpPr>
          <p:spPr bwMode="auto">
            <a:xfrm flipH="1">
              <a:off x="4089679" y="4345986"/>
              <a:ext cx="5024" cy="222738"/>
            </a:xfrm>
            <a:prstGeom prst="straightConnector1">
              <a:avLst/>
            </a:prstGeom>
            <a:noFill/>
            <a:ln w="12700" algn="ctr">
              <a:solidFill>
                <a:srgbClr val="0033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282" name="TextBox 132"/>
            <p:cNvSpPr txBox="1">
              <a:spLocks noChangeArrowheads="1"/>
            </p:cNvSpPr>
            <p:nvPr/>
          </p:nvSpPr>
          <p:spPr bwMode="auto">
            <a:xfrm>
              <a:off x="4231192" y="4303283"/>
              <a:ext cx="304729" cy="157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0033CC"/>
                  </a:solidFill>
                  <a:latin typeface="Arial" pitchFamily="34" charset="0"/>
                  <a:cs typeface="Arial" pitchFamily="34" charset="0"/>
                </a:rPr>
                <a:t>q</a:t>
              </a:r>
              <a:r>
                <a:rPr lang="en-US" sz="1600" b="1" baseline="-25000">
                  <a:solidFill>
                    <a:srgbClr val="0033CC"/>
                  </a:solidFill>
                  <a:latin typeface="Arial" pitchFamily="34" charset="0"/>
                  <a:cs typeface="Arial" pitchFamily="34" charset="0"/>
                </a:rPr>
                <a:t>o</a:t>
              </a:r>
            </a:p>
          </p:txBody>
        </p:sp>
        <p:sp>
          <p:nvSpPr>
            <p:cNvPr id="11283" name="TextBox 133"/>
            <p:cNvSpPr txBox="1">
              <a:spLocks noChangeArrowheads="1"/>
            </p:cNvSpPr>
            <p:nvPr/>
          </p:nvSpPr>
          <p:spPr bwMode="auto">
            <a:xfrm>
              <a:off x="2685836" y="4365618"/>
              <a:ext cx="583092" cy="186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sz="2000">
                  <a:solidFill>
                    <a:srgbClr val="0C0C00"/>
                  </a:solidFill>
                  <a:latin typeface="Arial" pitchFamily="34" charset="0"/>
                  <a:cs typeface="Arial" pitchFamily="34" charset="0"/>
                </a:rPr>
                <a:t>e.g. :</a:t>
              </a:r>
              <a:endParaRPr lang="en-US" sz="2000" baseline="-25000">
                <a:solidFill>
                  <a:srgbClr val="0C0C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84" name="TextBox 141"/>
            <p:cNvSpPr txBox="1">
              <a:spLocks noChangeArrowheads="1"/>
            </p:cNvSpPr>
            <p:nvPr/>
          </p:nvSpPr>
          <p:spPr bwMode="auto">
            <a:xfrm>
              <a:off x="3733800" y="4911572"/>
              <a:ext cx="533400" cy="1576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0033CC"/>
                  </a:solidFill>
                  <a:latin typeface="Arial" pitchFamily="34" charset="0"/>
                  <a:cs typeface="Arial" pitchFamily="34" charset="0"/>
                </a:rPr>
                <a:t>q</a:t>
              </a:r>
              <a:r>
                <a:rPr lang="en-US" sz="1600" b="1" baseline="-25000">
                  <a:solidFill>
                    <a:srgbClr val="0033CC"/>
                  </a:solidFill>
                  <a:latin typeface="Arial" pitchFamily="34" charset="0"/>
                  <a:cs typeface="Arial" pitchFamily="34" charset="0"/>
                </a:rPr>
                <a:t>o</a:t>
              </a:r>
              <a:r>
                <a:rPr lang="en-US" sz="1600" b="1">
                  <a:solidFill>
                    <a:srgbClr val="0033CC"/>
                  </a:solidFill>
                  <a:latin typeface="Arial" pitchFamily="34" charset="0"/>
                  <a:cs typeface="Arial" pitchFamily="34" charset="0"/>
                </a:rPr>
                <a:t>=0</a:t>
              </a:r>
            </a:p>
          </p:txBody>
        </p:sp>
        <p:cxnSp>
          <p:nvCxnSpPr>
            <p:cNvPr id="11285" name="Straight Arrow Connector 143"/>
            <p:cNvCxnSpPr>
              <a:cxnSpLocks noChangeShapeType="1"/>
            </p:cNvCxnSpPr>
            <p:nvPr/>
          </p:nvCxnSpPr>
          <p:spPr bwMode="auto">
            <a:xfrm flipH="1">
              <a:off x="4237055" y="4404603"/>
              <a:ext cx="5024" cy="222738"/>
            </a:xfrm>
            <a:prstGeom prst="straightConnector1">
              <a:avLst/>
            </a:prstGeom>
            <a:noFill/>
            <a:ln w="12700" algn="ctr">
              <a:solidFill>
                <a:srgbClr val="0033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286" name="TextBox 150"/>
            <p:cNvSpPr txBox="1">
              <a:spLocks noChangeArrowheads="1"/>
            </p:cNvSpPr>
            <p:nvPr/>
          </p:nvSpPr>
          <p:spPr bwMode="auto">
            <a:xfrm>
              <a:off x="3276600" y="4633202"/>
              <a:ext cx="533400" cy="1576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0033CC"/>
                  </a:solidFill>
                  <a:latin typeface="Arial" pitchFamily="34" charset="0"/>
                  <a:cs typeface="Arial" pitchFamily="34" charset="0"/>
                </a:rPr>
                <a:t>q</a:t>
              </a:r>
              <a:r>
                <a:rPr lang="en-US" sz="1600" b="1" baseline="-25000">
                  <a:solidFill>
                    <a:srgbClr val="0033CC"/>
                  </a:solidFill>
                  <a:latin typeface="Arial" pitchFamily="34" charset="0"/>
                  <a:cs typeface="Arial" pitchFamily="34" charset="0"/>
                </a:rPr>
                <a:t>o</a:t>
              </a:r>
              <a:r>
                <a:rPr lang="en-US" sz="1600" b="1">
                  <a:solidFill>
                    <a:srgbClr val="0033CC"/>
                  </a:solidFill>
                  <a:latin typeface="Arial" pitchFamily="34" charset="0"/>
                  <a:cs typeface="Arial" pitchFamily="34" charset="0"/>
                </a:rPr>
                <a:t>=0</a:t>
              </a:r>
            </a:p>
          </p:txBody>
        </p:sp>
        <p:sp>
          <p:nvSpPr>
            <p:cNvPr id="11287" name="Freeform 152"/>
            <p:cNvSpPr>
              <a:spLocks/>
            </p:cNvSpPr>
            <p:nvPr/>
          </p:nvSpPr>
          <p:spPr bwMode="auto">
            <a:xfrm>
              <a:off x="7146678" y="4557003"/>
              <a:ext cx="1009650" cy="228600"/>
            </a:xfrm>
            <a:custGeom>
              <a:avLst/>
              <a:gdLst>
                <a:gd name="T0" fmla="*/ 0 w 1009650"/>
                <a:gd name="T1" fmla="*/ 0 h 228600"/>
                <a:gd name="T2" fmla="*/ 171450 w 1009650"/>
                <a:gd name="T3" fmla="*/ 9525 h 228600"/>
                <a:gd name="T4" fmla="*/ 400050 w 1009650"/>
                <a:gd name="T5" fmla="*/ 47625 h 228600"/>
                <a:gd name="T6" fmla="*/ 758647 w 1009650"/>
                <a:gd name="T7" fmla="*/ 121691 h 228600"/>
                <a:gd name="T8" fmla="*/ 925220 w 1009650"/>
                <a:gd name="T9" fmla="*/ 175184 h 228600"/>
                <a:gd name="T10" fmla="*/ 1009650 w 1009650"/>
                <a:gd name="T11" fmla="*/ 228600 h 228600"/>
                <a:gd name="T12" fmla="*/ 1009650 w 1009650"/>
                <a:gd name="T13" fmla="*/ 228600 h 2286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09650"/>
                <a:gd name="T22" fmla="*/ 0 h 228600"/>
                <a:gd name="T23" fmla="*/ 1009650 w 1009650"/>
                <a:gd name="T24" fmla="*/ 228600 h 2286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09650" h="228600">
                  <a:moveTo>
                    <a:pt x="0" y="0"/>
                  </a:moveTo>
                  <a:cubicBezTo>
                    <a:pt x="52387" y="794"/>
                    <a:pt x="104775" y="1588"/>
                    <a:pt x="171450" y="9525"/>
                  </a:cubicBezTo>
                  <a:cubicBezTo>
                    <a:pt x="238125" y="17462"/>
                    <a:pt x="302184" y="28931"/>
                    <a:pt x="400050" y="47625"/>
                  </a:cubicBezTo>
                  <a:cubicBezTo>
                    <a:pt x="497916" y="66319"/>
                    <a:pt x="671119" y="100431"/>
                    <a:pt x="758647" y="121691"/>
                  </a:cubicBezTo>
                  <a:cubicBezTo>
                    <a:pt x="846175" y="142951"/>
                    <a:pt x="883386" y="157366"/>
                    <a:pt x="925220" y="175184"/>
                  </a:cubicBezTo>
                  <a:cubicBezTo>
                    <a:pt x="967054" y="193002"/>
                    <a:pt x="995578" y="219697"/>
                    <a:pt x="1009650" y="228600"/>
                  </a:cubicBezTo>
                </a:path>
              </a:pathLst>
            </a:custGeom>
            <a:noFill/>
            <a:ln w="19050" cap="flat" cmpd="sng" algn="ctr">
              <a:solidFill>
                <a:srgbClr val="0033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11288" name="Straight Connector 153"/>
            <p:cNvCxnSpPr>
              <a:cxnSpLocks noChangeShapeType="1"/>
            </p:cNvCxnSpPr>
            <p:nvPr/>
          </p:nvCxnSpPr>
          <p:spPr bwMode="auto">
            <a:xfrm>
              <a:off x="7146678" y="5014203"/>
              <a:ext cx="1014413" cy="2381"/>
            </a:xfrm>
            <a:prstGeom prst="line">
              <a:avLst/>
            </a:prstGeom>
            <a:noFill/>
            <a:ln w="19050" algn="ctr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289" name="Freeform 37"/>
            <p:cNvSpPr>
              <a:spLocks/>
            </p:cNvSpPr>
            <p:nvPr/>
          </p:nvSpPr>
          <p:spPr bwMode="auto">
            <a:xfrm>
              <a:off x="8061078" y="4633203"/>
              <a:ext cx="83345" cy="97384"/>
            </a:xfrm>
            <a:custGeom>
              <a:avLst/>
              <a:gdLst>
                <a:gd name="T0" fmla="*/ 0 w 225"/>
                <a:gd name="T1" fmla="*/ 0 h 150"/>
                <a:gd name="T2" fmla="*/ 2147483647 w 225"/>
                <a:gd name="T3" fmla="*/ 0 h 150"/>
                <a:gd name="T4" fmla="*/ 2147483647 w 225"/>
                <a:gd name="T5" fmla="*/ 2147483647 h 150"/>
                <a:gd name="T6" fmla="*/ 0 w 225"/>
                <a:gd name="T7" fmla="*/ 0 h 1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5"/>
                <a:gd name="T13" fmla="*/ 0 h 150"/>
                <a:gd name="T14" fmla="*/ 225 w 225"/>
                <a:gd name="T15" fmla="*/ 150 h 1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5" h="150">
                  <a:moveTo>
                    <a:pt x="0" y="0"/>
                  </a:moveTo>
                  <a:lnTo>
                    <a:pt x="225" y="0"/>
                  </a:lnTo>
                  <a:lnTo>
                    <a:pt x="111" y="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solidFill>
                <a:srgbClr val="0C0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11290" name="Straight Connector 155"/>
            <p:cNvCxnSpPr>
              <a:cxnSpLocks noChangeShapeType="1"/>
            </p:cNvCxnSpPr>
            <p:nvPr/>
          </p:nvCxnSpPr>
          <p:spPr bwMode="auto">
            <a:xfrm flipV="1">
              <a:off x="7146678" y="4557003"/>
              <a:ext cx="0" cy="457200"/>
            </a:xfrm>
            <a:prstGeom prst="line">
              <a:avLst/>
            </a:prstGeom>
            <a:noFill/>
            <a:ln w="19050" algn="ctr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91" name="Straight Connector 156"/>
            <p:cNvCxnSpPr>
              <a:cxnSpLocks noChangeShapeType="1"/>
              <a:endCxn id="11287" idx="5"/>
            </p:cNvCxnSpPr>
            <p:nvPr/>
          </p:nvCxnSpPr>
          <p:spPr bwMode="auto">
            <a:xfrm flipV="1">
              <a:off x="8156328" y="4785603"/>
              <a:ext cx="0" cy="223838"/>
            </a:xfrm>
            <a:prstGeom prst="line">
              <a:avLst/>
            </a:prstGeom>
            <a:noFill/>
            <a:ln w="12700" algn="ctr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292" name="Freeform 157"/>
            <p:cNvSpPr>
              <a:spLocks/>
            </p:cNvSpPr>
            <p:nvPr/>
          </p:nvSpPr>
          <p:spPr bwMode="auto">
            <a:xfrm>
              <a:off x="7375278" y="4785603"/>
              <a:ext cx="925982" cy="69356"/>
            </a:xfrm>
            <a:custGeom>
              <a:avLst/>
              <a:gdLst>
                <a:gd name="T0" fmla="*/ 0 w 1170234"/>
                <a:gd name="T1" fmla="*/ 0 h 216909"/>
                <a:gd name="T2" fmla="*/ 402 w 1170234"/>
                <a:gd name="T3" fmla="*/ 0 h 216909"/>
                <a:gd name="T4" fmla="*/ 1247 w 1170234"/>
                <a:gd name="T5" fmla="*/ 0 h 216909"/>
                <a:gd name="T6" fmla="*/ 2213 w 1170234"/>
                <a:gd name="T7" fmla="*/ 0 h 216909"/>
                <a:gd name="T8" fmla="*/ 3792 w 1170234"/>
                <a:gd name="T9" fmla="*/ 0 h 216909"/>
                <a:gd name="T10" fmla="*/ 4535 w 1170234"/>
                <a:gd name="T11" fmla="*/ 0 h 216909"/>
                <a:gd name="T12" fmla="*/ 5369 w 1170234"/>
                <a:gd name="T13" fmla="*/ 0 h 21690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70234"/>
                <a:gd name="T22" fmla="*/ 0 h 216909"/>
                <a:gd name="T23" fmla="*/ 1170234 w 1170234"/>
                <a:gd name="T24" fmla="*/ 216909 h 21690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70234" h="216909">
                  <a:moveTo>
                    <a:pt x="0" y="1348"/>
                  </a:moveTo>
                  <a:cubicBezTo>
                    <a:pt x="1932" y="0"/>
                    <a:pt x="42223" y="38137"/>
                    <a:pt x="87524" y="58923"/>
                  </a:cubicBezTo>
                  <a:cubicBezTo>
                    <a:pt x="132825" y="79709"/>
                    <a:pt x="205998" y="107718"/>
                    <a:pt x="271807" y="126062"/>
                  </a:cubicBezTo>
                  <a:cubicBezTo>
                    <a:pt x="337616" y="144406"/>
                    <a:pt x="389919" y="156033"/>
                    <a:pt x="482377" y="168985"/>
                  </a:cubicBezTo>
                  <a:cubicBezTo>
                    <a:pt x="574835" y="181937"/>
                    <a:pt x="687323" y="202873"/>
                    <a:pt x="826553" y="203771"/>
                  </a:cubicBezTo>
                  <a:lnTo>
                    <a:pt x="988574" y="210952"/>
                  </a:lnTo>
                  <a:cubicBezTo>
                    <a:pt x="1045854" y="208898"/>
                    <a:pt x="1113395" y="216909"/>
                    <a:pt x="1170234" y="209733"/>
                  </a:cubicBezTo>
                </a:path>
              </a:pathLst>
            </a:custGeom>
            <a:noFill/>
            <a:ln w="12700" cap="flat" cmpd="sng" algn="ctr">
              <a:solidFill>
                <a:srgbClr val="0033CC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3" name="TextBox 159"/>
            <p:cNvSpPr txBox="1">
              <a:spLocks noChangeArrowheads="1"/>
            </p:cNvSpPr>
            <p:nvPr/>
          </p:nvSpPr>
          <p:spPr bwMode="auto">
            <a:xfrm>
              <a:off x="8213478" y="4861803"/>
              <a:ext cx="304729" cy="157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0033CC"/>
                  </a:solidFill>
                  <a:latin typeface="Arial" pitchFamily="34" charset="0"/>
                  <a:cs typeface="Arial" pitchFamily="34" charset="0"/>
                </a:rPr>
                <a:t>q</a:t>
              </a:r>
              <a:r>
                <a:rPr lang="en-US" sz="1600" b="1" baseline="-25000">
                  <a:solidFill>
                    <a:srgbClr val="0033CC"/>
                  </a:solidFill>
                  <a:latin typeface="Arial" pitchFamily="34" charset="0"/>
                  <a:cs typeface="Arial" pitchFamily="34" charset="0"/>
                </a:rPr>
                <a:t>o</a:t>
              </a:r>
            </a:p>
          </p:txBody>
        </p:sp>
        <p:cxnSp>
          <p:nvCxnSpPr>
            <p:cNvPr id="11294" name="Straight Connector 160"/>
            <p:cNvCxnSpPr>
              <a:cxnSpLocks noChangeShapeType="1"/>
            </p:cNvCxnSpPr>
            <p:nvPr/>
          </p:nvCxnSpPr>
          <p:spPr bwMode="auto">
            <a:xfrm flipH="1">
              <a:off x="8179949" y="4805109"/>
              <a:ext cx="1832" cy="206655"/>
            </a:xfrm>
            <a:prstGeom prst="line">
              <a:avLst/>
            </a:prstGeom>
            <a:noFill/>
            <a:ln w="12700" algn="ctr">
              <a:solidFill>
                <a:srgbClr val="0033CC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295" name="TextBox 164"/>
            <p:cNvSpPr txBox="1">
              <a:spLocks noChangeArrowheads="1"/>
            </p:cNvSpPr>
            <p:nvPr/>
          </p:nvSpPr>
          <p:spPr bwMode="auto">
            <a:xfrm>
              <a:off x="6765678" y="4633203"/>
              <a:ext cx="304729" cy="157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0033CC"/>
                  </a:solidFill>
                  <a:latin typeface="Arial" pitchFamily="34" charset="0"/>
                  <a:cs typeface="Arial" pitchFamily="34" charset="0"/>
                </a:rPr>
                <a:t>q</a:t>
              </a:r>
              <a:r>
                <a:rPr lang="en-US" sz="1600" b="1" baseline="-25000">
                  <a:solidFill>
                    <a:srgbClr val="0033CC"/>
                  </a:solidFill>
                  <a:latin typeface="Arial" pitchFamily="34" charset="0"/>
                  <a:cs typeface="Arial" pitchFamily="34" charset="0"/>
                </a:rPr>
                <a:t>o</a:t>
              </a:r>
            </a:p>
          </p:txBody>
        </p:sp>
        <p:cxnSp>
          <p:nvCxnSpPr>
            <p:cNvPr id="11296" name="Straight Arrow Connector 166"/>
            <p:cNvCxnSpPr>
              <a:cxnSpLocks noChangeShapeType="1"/>
            </p:cNvCxnSpPr>
            <p:nvPr/>
          </p:nvCxnSpPr>
          <p:spPr bwMode="auto">
            <a:xfrm>
              <a:off x="7026935" y="4861803"/>
              <a:ext cx="299776" cy="0"/>
            </a:xfrm>
            <a:prstGeom prst="straightConnector1">
              <a:avLst/>
            </a:prstGeom>
            <a:noFill/>
            <a:ln w="12700" algn="ctr">
              <a:solidFill>
                <a:srgbClr val="0033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97" name="Straight Arrow Connector 168"/>
            <p:cNvCxnSpPr>
              <a:cxnSpLocks noChangeShapeType="1"/>
            </p:cNvCxnSpPr>
            <p:nvPr/>
          </p:nvCxnSpPr>
          <p:spPr bwMode="auto">
            <a:xfrm>
              <a:off x="7026935" y="4693493"/>
              <a:ext cx="299776" cy="0"/>
            </a:xfrm>
            <a:prstGeom prst="straightConnector1">
              <a:avLst/>
            </a:prstGeom>
            <a:noFill/>
            <a:ln w="12700" algn="ctr">
              <a:solidFill>
                <a:srgbClr val="0033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298" name="TextBox 170"/>
            <p:cNvSpPr txBox="1">
              <a:spLocks noChangeArrowheads="1"/>
            </p:cNvSpPr>
            <p:nvPr/>
          </p:nvSpPr>
          <p:spPr bwMode="auto">
            <a:xfrm>
              <a:off x="7369992" y="4872375"/>
              <a:ext cx="533400" cy="1576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0033CC"/>
                  </a:solidFill>
                  <a:latin typeface="Arial" pitchFamily="34" charset="0"/>
                  <a:cs typeface="Arial" pitchFamily="34" charset="0"/>
                </a:rPr>
                <a:t>q</a:t>
              </a:r>
              <a:r>
                <a:rPr lang="en-US" sz="1600" b="1" baseline="-25000">
                  <a:solidFill>
                    <a:srgbClr val="0033CC"/>
                  </a:solidFill>
                  <a:latin typeface="Arial" pitchFamily="34" charset="0"/>
                  <a:cs typeface="Arial" pitchFamily="34" charset="0"/>
                </a:rPr>
                <a:t>o</a:t>
              </a:r>
              <a:r>
                <a:rPr lang="en-US" sz="1600" b="1">
                  <a:solidFill>
                    <a:srgbClr val="0033CC"/>
                  </a:solidFill>
                  <a:latin typeface="Arial" pitchFamily="34" charset="0"/>
                  <a:cs typeface="Arial" pitchFamily="34" charset="0"/>
                </a:rPr>
                <a:t>=0</a:t>
              </a:r>
            </a:p>
          </p:txBody>
        </p:sp>
        <p:cxnSp>
          <p:nvCxnSpPr>
            <p:cNvPr id="11299" name="Straight Arrow Connector 171"/>
            <p:cNvCxnSpPr>
              <a:cxnSpLocks noChangeShapeType="1"/>
            </p:cNvCxnSpPr>
            <p:nvPr/>
          </p:nvCxnSpPr>
          <p:spPr bwMode="auto">
            <a:xfrm flipH="1">
              <a:off x="7386165" y="4294906"/>
              <a:ext cx="5024" cy="222738"/>
            </a:xfrm>
            <a:prstGeom prst="straightConnector1">
              <a:avLst/>
            </a:prstGeom>
            <a:noFill/>
            <a:ln w="12700" algn="ctr">
              <a:solidFill>
                <a:srgbClr val="0033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300" name="TextBox 172"/>
            <p:cNvSpPr txBox="1">
              <a:spLocks noChangeArrowheads="1"/>
            </p:cNvSpPr>
            <p:nvPr/>
          </p:nvSpPr>
          <p:spPr bwMode="auto">
            <a:xfrm>
              <a:off x="7527679" y="4252203"/>
              <a:ext cx="304729" cy="157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0033CC"/>
                  </a:solidFill>
                  <a:latin typeface="Arial" pitchFamily="34" charset="0"/>
                  <a:cs typeface="Arial" pitchFamily="34" charset="0"/>
                </a:rPr>
                <a:t>q</a:t>
              </a:r>
              <a:r>
                <a:rPr lang="en-US" sz="1600" b="1" baseline="-25000">
                  <a:solidFill>
                    <a:srgbClr val="0033CC"/>
                  </a:solidFill>
                  <a:latin typeface="Arial" pitchFamily="34" charset="0"/>
                  <a:cs typeface="Arial" pitchFamily="34" charset="0"/>
                </a:rPr>
                <a:t>o</a:t>
              </a:r>
            </a:p>
          </p:txBody>
        </p:sp>
        <p:cxnSp>
          <p:nvCxnSpPr>
            <p:cNvPr id="11301" name="Straight Arrow Connector 173"/>
            <p:cNvCxnSpPr>
              <a:cxnSpLocks noChangeShapeType="1"/>
            </p:cNvCxnSpPr>
            <p:nvPr/>
          </p:nvCxnSpPr>
          <p:spPr bwMode="auto">
            <a:xfrm flipH="1">
              <a:off x="7533541" y="4353523"/>
              <a:ext cx="5024" cy="222738"/>
            </a:xfrm>
            <a:prstGeom prst="straightConnector1">
              <a:avLst/>
            </a:prstGeom>
            <a:noFill/>
            <a:ln w="12700" algn="ctr">
              <a:solidFill>
                <a:srgbClr val="0033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02" name="Straight Connector 174"/>
            <p:cNvCxnSpPr>
              <a:cxnSpLocks noChangeShapeType="1"/>
            </p:cNvCxnSpPr>
            <p:nvPr/>
          </p:nvCxnSpPr>
          <p:spPr bwMode="auto">
            <a:xfrm flipH="1">
              <a:off x="7114021" y="4567051"/>
              <a:ext cx="5024" cy="421858"/>
            </a:xfrm>
            <a:prstGeom prst="line">
              <a:avLst/>
            </a:prstGeom>
            <a:noFill/>
            <a:ln w="12700" algn="ctr">
              <a:solidFill>
                <a:srgbClr val="0033CC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03" name="Straight Arrow Connector 176"/>
            <p:cNvCxnSpPr>
              <a:cxnSpLocks noChangeShapeType="1"/>
            </p:cNvCxnSpPr>
            <p:nvPr/>
          </p:nvCxnSpPr>
          <p:spPr bwMode="auto">
            <a:xfrm>
              <a:off x="8061078" y="4938003"/>
              <a:ext cx="299776" cy="0"/>
            </a:xfrm>
            <a:prstGeom prst="straightConnector1">
              <a:avLst/>
            </a:prstGeom>
            <a:noFill/>
            <a:ln w="12700" algn="ctr">
              <a:solidFill>
                <a:srgbClr val="0033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304" name="Freeform 212"/>
            <p:cNvSpPr>
              <a:spLocks/>
            </p:cNvSpPr>
            <p:nvPr/>
          </p:nvSpPr>
          <p:spPr bwMode="auto">
            <a:xfrm>
              <a:off x="5410200" y="4557003"/>
              <a:ext cx="1009650" cy="230187"/>
            </a:xfrm>
            <a:custGeom>
              <a:avLst/>
              <a:gdLst>
                <a:gd name="T0" fmla="*/ 0 w 1009650"/>
                <a:gd name="T1" fmla="*/ 0 h 230187"/>
                <a:gd name="T2" fmla="*/ 171450 w 1009650"/>
                <a:gd name="T3" fmla="*/ 9525 h 230187"/>
                <a:gd name="T4" fmla="*/ 400050 w 1009650"/>
                <a:gd name="T5" fmla="*/ 47625 h 230187"/>
                <a:gd name="T6" fmla="*/ 723900 w 1009650"/>
                <a:gd name="T7" fmla="*/ 161925 h 230187"/>
                <a:gd name="T8" fmla="*/ 819150 w 1009650"/>
                <a:gd name="T9" fmla="*/ 219075 h 230187"/>
                <a:gd name="T10" fmla="*/ 1009650 w 1009650"/>
                <a:gd name="T11" fmla="*/ 228600 h 230187"/>
                <a:gd name="T12" fmla="*/ 1009650 w 1009650"/>
                <a:gd name="T13" fmla="*/ 228600 h 2301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09650"/>
                <a:gd name="T22" fmla="*/ 0 h 230187"/>
                <a:gd name="T23" fmla="*/ 1009650 w 1009650"/>
                <a:gd name="T24" fmla="*/ 230187 h 23018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09650" h="230187">
                  <a:moveTo>
                    <a:pt x="0" y="0"/>
                  </a:moveTo>
                  <a:cubicBezTo>
                    <a:pt x="52387" y="794"/>
                    <a:pt x="104775" y="1588"/>
                    <a:pt x="171450" y="9525"/>
                  </a:cubicBezTo>
                  <a:cubicBezTo>
                    <a:pt x="238125" y="17462"/>
                    <a:pt x="307975" y="22225"/>
                    <a:pt x="400050" y="47625"/>
                  </a:cubicBezTo>
                  <a:cubicBezTo>
                    <a:pt x="492125" y="73025"/>
                    <a:pt x="654050" y="133350"/>
                    <a:pt x="723900" y="161925"/>
                  </a:cubicBezTo>
                  <a:cubicBezTo>
                    <a:pt x="793750" y="190500"/>
                    <a:pt x="771525" y="207963"/>
                    <a:pt x="819150" y="219075"/>
                  </a:cubicBezTo>
                  <a:cubicBezTo>
                    <a:pt x="866775" y="230187"/>
                    <a:pt x="1009650" y="228600"/>
                    <a:pt x="1009650" y="228600"/>
                  </a:cubicBezTo>
                </a:path>
              </a:pathLst>
            </a:custGeom>
            <a:noFill/>
            <a:ln w="19050" cap="flat" cmpd="sng" algn="ctr">
              <a:solidFill>
                <a:srgbClr val="0033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11305" name="Straight Connector 213"/>
            <p:cNvCxnSpPr>
              <a:cxnSpLocks noChangeShapeType="1"/>
            </p:cNvCxnSpPr>
            <p:nvPr/>
          </p:nvCxnSpPr>
          <p:spPr bwMode="auto">
            <a:xfrm>
              <a:off x="5410200" y="5014203"/>
              <a:ext cx="1014413" cy="2381"/>
            </a:xfrm>
            <a:prstGeom prst="line">
              <a:avLst/>
            </a:prstGeom>
            <a:noFill/>
            <a:ln w="19050" algn="ctr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306" name="Freeform 37"/>
            <p:cNvSpPr>
              <a:spLocks/>
            </p:cNvSpPr>
            <p:nvPr/>
          </p:nvSpPr>
          <p:spPr bwMode="auto">
            <a:xfrm>
              <a:off x="6309970" y="4669916"/>
              <a:ext cx="89993" cy="92979"/>
            </a:xfrm>
            <a:custGeom>
              <a:avLst/>
              <a:gdLst>
                <a:gd name="T0" fmla="*/ 0 w 225"/>
                <a:gd name="T1" fmla="*/ 0 h 150"/>
                <a:gd name="T2" fmla="*/ 2147483647 w 225"/>
                <a:gd name="T3" fmla="*/ 0 h 150"/>
                <a:gd name="T4" fmla="*/ 2147483647 w 225"/>
                <a:gd name="T5" fmla="*/ 2147483647 h 150"/>
                <a:gd name="T6" fmla="*/ 0 w 225"/>
                <a:gd name="T7" fmla="*/ 0 h 1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5"/>
                <a:gd name="T13" fmla="*/ 0 h 150"/>
                <a:gd name="T14" fmla="*/ 225 w 225"/>
                <a:gd name="T15" fmla="*/ 150 h 1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5" h="150">
                  <a:moveTo>
                    <a:pt x="0" y="0"/>
                  </a:moveTo>
                  <a:lnTo>
                    <a:pt x="225" y="0"/>
                  </a:lnTo>
                  <a:lnTo>
                    <a:pt x="111" y="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solidFill>
                <a:srgbClr val="0C0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11307" name="Straight Connector 215"/>
            <p:cNvCxnSpPr>
              <a:cxnSpLocks noChangeShapeType="1"/>
            </p:cNvCxnSpPr>
            <p:nvPr/>
          </p:nvCxnSpPr>
          <p:spPr bwMode="auto">
            <a:xfrm flipV="1">
              <a:off x="5410200" y="4557003"/>
              <a:ext cx="0" cy="457200"/>
            </a:xfrm>
            <a:prstGeom prst="line">
              <a:avLst/>
            </a:prstGeom>
            <a:noFill/>
            <a:ln w="19050" algn="ctr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08" name="Straight Connector 216"/>
            <p:cNvCxnSpPr>
              <a:cxnSpLocks noChangeShapeType="1"/>
              <a:endCxn id="11304" idx="5"/>
            </p:cNvCxnSpPr>
            <p:nvPr/>
          </p:nvCxnSpPr>
          <p:spPr bwMode="auto">
            <a:xfrm flipV="1">
              <a:off x="6419850" y="4785603"/>
              <a:ext cx="0" cy="223838"/>
            </a:xfrm>
            <a:prstGeom prst="line">
              <a:avLst/>
            </a:prstGeom>
            <a:noFill/>
            <a:ln w="12700" algn="ctr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309" name="Freeform 217"/>
            <p:cNvSpPr>
              <a:spLocks/>
            </p:cNvSpPr>
            <p:nvPr/>
          </p:nvSpPr>
          <p:spPr bwMode="auto">
            <a:xfrm>
              <a:off x="5562600" y="4785603"/>
              <a:ext cx="754856" cy="134805"/>
            </a:xfrm>
            <a:custGeom>
              <a:avLst/>
              <a:gdLst>
                <a:gd name="T0" fmla="*/ 0 w 754856"/>
                <a:gd name="T1" fmla="*/ 0 h 134805"/>
                <a:gd name="T2" fmla="*/ 152400 w 754856"/>
                <a:gd name="T3" fmla="*/ 76200 h 134805"/>
                <a:gd name="T4" fmla="*/ 409575 w 754856"/>
                <a:gd name="T5" fmla="*/ 123031 h 134805"/>
                <a:gd name="T6" fmla="*/ 654844 w 754856"/>
                <a:gd name="T7" fmla="*/ 121444 h 134805"/>
                <a:gd name="T8" fmla="*/ 754856 w 754856"/>
                <a:gd name="T9" fmla="*/ 42863 h 134805"/>
                <a:gd name="T10" fmla="*/ 754856 w 754856"/>
                <a:gd name="T11" fmla="*/ 42863 h 13480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54856"/>
                <a:gd name="T19" fmla="*/ 0 h 134805"/>
                <a:gd name="T20" fmla="*/ 754856 w 754856"/>
                <a:gd name="T21" fmla="*/ 134805 h 13480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54856" h="134805">
                  <a:moveTo>
                    <a:pt x="0" y="0"/>
                  </a:moveTo>
                  <a:cubicBezTo>
                    <a:pt x="19843" y="38497"/>
                    <a:pt x="84137" y="55695"/>
                    <a:pt x="152400" y="76200"/>
                  </a:cubicBezTo>
                  <a:cubicBezTo>
                    <a:pt x="220663" y="96705"/>
                    <a:pt x="325834" y="115490"/>
                    <a:pt x="409575" y="123031"/>
                  </a:cubicBezTo>
                  <a:cubicBezTo>
                    <a:pt x="493316" y="130572"/>
                    <a:pt x="597297" y="134805"/>
                    <a:pt x="654844" y="121444"/>
                  </a:cubicBezTo>
                  <a:cubicBezTo>
                    <a:pt x="712391" y="108083"/>
                    <a:pt x="754856" y="42863"/>
                    <a:pt x="754856" y="42863"/>
                  </a:cubicBezTo>
                </a:path>
              </a:pathLst>
            </a:custGeom>
            <a:noFill/>
            <a:ln w="12700" cap="flat" cmpd="sng" algn="ctr">
              <a:solidFill>
                <a:srgbClr val="0033CC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11310" name="Straight Arrow Connector 218"/>
            <p:cNvCxnSpPr>
              <a:cxnSpLocks noChangeShapeType="1"/>
            </p:cNvCxnSpPr>
            <p:nvPr/>
          </p:nvCxnSpPr>
          <p:spPr bwMode="auto">
            <a:xfrm flipH="1">
              <a:off x="5842279" y="4348367"/>
              <a:ext cx="5024" cy="222738"/>
            </a:xfrm>
            <a:prstGeom prst="straightConnector1">
              <a:avLst/>
            </a:prstGeom>
            <a:noFill/>
            <a:ln w="12700" algn="ctr">
              <a:solidFill>
                <a:srgbClr val="0033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311" name="TextBox 219"/>
            <p:cNvSpPr txBox="1">
              <a:spLocks noChangeArrowheads="1"/>
            </p:cNvSpPr>
            <p:nvPr/>
          </p:nvSpPr>
          <p:spPr bwMode="auto">
            <a:xfrm>
              <a:off x="5983792" y="4305664"/>
              <a:ext cx="304729" cy="157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0033CC"/>
                  </a:solidFill>
                  <a:latin typeface="Arial" pitchFamily="34" charset="0"/>
                  <a:cs typeface="Arial" pitchFamily="34" charset="0"/>
                </a:rPr>
                <a:t>q</a:t>
              </a:r>
              <a:r>
                <a:rPr lang="en-US" sz="1600" b="1" baseline="-25000">
                  <a:solidFill>
                    <a:srgbClr val="0033CC"/>
                  </a:solidFill>
                  <a:latin typeface="Arial" pitchFamily="34" charset="0"/>
                  <a:cs typeface="Arial" pitchFamily="34" charset="0"/>
                </a:rPr>
                <a:t>o</a:t>
              </a:r>
            </a:p>
          </p:txBody>
        </p:sp>
        <p:sp>
          <p:nvSpPr>
            <p:cNvPr id="11312" name="TextBox 221"/>
            <p:cNvSpPr txBox="1">
              <a:spLocks noChangeArrowheads="1"/>
            </p:cNvSpPr>
            <p:nvPr/>
          </p:nvSpPr>
          <p:spPr bwMode="auto">
            <a:xfrm>
              <a:off x="5486400" y="4927684"/>
              <a:ext cx="533400" cy="1576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0033CC"/>
                  </a:solidFill>
                  <a:latin typeface="Arial" pitchFamily="34" charset="0"/>
                  <a:cs typeface="Arial" pitchFamily="34" charset="0"/>
                </a:rPr>
                <a:t>q</a:t>
              </a:r>
              <a:r>
                <a:rPr lang="en-US" sz="1600" b="1" baseline="-25000">
                  <a:solidFill>
                    <a:srgbClr val="0033CC"/>
                  </a:solidFill>
                  <a:latin typeface="Arial" pitchFamily="34" charset="0"/>
                  <a:cs typeface="Arial" pitchFamily="34" charset="0"/>
                </a:rPr>
                <a:t>o</a:t>
              </a:r>
              <a:r>
                <a:rPr lang="en-US" sz="1600" b="1">
                  <a:solidFill>
                    <a:srgbClr val="0033CC"/>
                  </a:solidFill>
                  <a:latin typeface="Arial" pitchFamily="34" charset="0"/>
                  <a:cs typeface="Arial" pitchFamily="34" charset="0"/>
                </a:rPr>
                <a:t>=0</a:t>
              </a:r>
            </a:p>
          </p:txBody>
        </p:sp>
        <p:cxnSp>
          <p:nvCxnSpPr>
            <p:cNvPr id="11313" name="Straight Arrow Connector 222"/>
            <p:cNvCxnSpPr>
              <a:cxnSpLocks noChangeShapeType="1"/>
            </p:cNvCxnSpPr>
            <p:nvPr/>
          </p:nvCxnSpPr>
          <p:spPr bwMode="auto">
            <a:xfrm flipH="1">
              <a:off x="5989655" y="4406984"/>
              <a:ext cx="5024" cy="222738"/>
            </a:xfrm>
            <a:prstGeom prst="straightConnector1">
              <a:avLst/>
            </a:prstGeom>
            <a:noFill/>
            <a:ln w="12700" algn="ctr">
              <a:solidFill>
                <a:srgbClr val="0033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314" name="TextBox 223"/>
            <p:cNvSpPr txBox="1">
              <a:spLocks noChangeArrowheads="1"/>
            </p:cNvSpPr>
            <p:nvPr/>
          </p:nvSpPr>
          <p:spPr bwMode="auto">
            <a:xfrm>
              <a:off x="5029200" y="4633288"/>
              <a:ext cx="381000" cy="157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sz="1600" b="1">
                  <a:solidFill>
                    <a:srgbClr val="0033CC"/>
                  </a:solidFill>
                  <a:latin typeface="Arial" pitchFamily="34" charset="0"/>
                  <a:cs typeface="Arial" pitchFamily="34" charset="0"/>
                </a:rPr>
                <a:t>q</a:t>
              </a:r>
              <a:r>
                <a:rPr lang="en-US" sz="1600" b="1" baseline="-25000">
                  <a:solidFill>
                    <a:srgbClr val="0033CC"/>
                  </a:solidFill>
                  <a:latin typeface="Arial" pitchFamily="34" charset="0"/>
                  <a:cs typeface="Arial" pitchFamily="34" charset="0"/>
                </a:rPr>
                <a:t>o</a:t>
              </a:r>
              <a:endParaRPr lang="en-US" sz="1600" b="1">
                <a:solidFill>
                  <a:srgbClr val="0033CC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1315" name="Straight Arrow Connector 224"/>
            <p:cNvCxnSpPr>
              <a:cxnSpLocks noChangeShapeType="1"/>
            </p:cNvCxnSpPr>
            <p:nvPr/>
          </p:nvCxnSpPr>
          <p:spPr bwMode="auto">
            <a:xfrm>
              <a:off x="5276850" y="4877713"/>
              <a:ext cx="299776" cy="0"/>
            </a:xfrm>
            <a:prstGeom prst="straightConnector1">
              <a:avLst/>
            </a:prstGeom>
            <a:noFill/>
            <a:ln w="12700" algn="ctr">
              <a:solidFill>
                <a:srgbClr val="0033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16" name="Straight Arrow Connector 225"/>
            <p:cNvCxnSpPr>
              <a:cxnSpLocks noChangeShapeType="1"/>
            </p:cNvCxnSpPr>
            <p:nvPr/>
          </p:nvCxnSpPr>
          <p:spPr bwMode="auto">
            <a:xfrm>
              <a:off x="5276850" y="4709403"/>
              <a:ext cx="299776" cy="0"/>
            </a:xfrm>
            <a:prstGeom prst="straightConnector1">
              <a:avLst/>
            </a:prstGeom>
            <a:noFill/>
            <a:ln w="12700" algn="ctr">
              <a:solidFill>
                <a:srgbClr val="0033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17" name="Straight Arrow Connector 226"/>
            <p:cNvCxnSpPr>
              <a:cxnSpLocks noChangeShapeType="1"/>
            </p:cNvCxnSpPr>
            <p:nvPr/>
          </p:nvCxnSpPr>
          <p:spPr bwMode="auto">
            <a:xfrm flipV="1">
              <a:off x="4630141" y="4796176"/>
              <a:ext cx="2201" cy="191600"/>
            </a:xfrm>
            <a:prstGeom prst="straightConnector1">
              <a:avLst/>
            </a:prstGeom>
            <a:noFill/>
            <a:ln w="12700" algn="ctr">
              <a:solidFill>
                <a:srgbClr val="00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18" name="Straight Arrow Connector 227"/>
            <p:cNvCxnSpPr>
              <a:cxnSpLocks noChangeShapeType="1"/>
            </p:cNvCxnSpPr>
            <p:nvPr/>
          </p:nvCxnSpPr>
          <p:spPr bwMode="auto">
            <a:xfrm flipH="1">
              <a:off x="3731598" y="4633203"/>
              <a:ext cx="2202" cy="275289"/>
            </a:xfrm>
            <a:prstGeom prst="straightConnector1">
              <a:avLst/>
            </a:prstGeom>
            <a:noFill/>
            <a:ln w="12700" algn="ctr">
              <a:solidFill>
                <a:srgbClr val="00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19" name="Straight Arrow Connector 228"/>
            <p:cNvCxnSpPr>
              <a:cxnSpLocks noChangeShapeType="1"/>
            </p:cNvCxnSpPr>
            <p:nvPr/>
          </p:nvCxnSpPr>
          <p:spPr bwMode="auto">
            <a:xfrm flipV="1">
              <a:off x="6379656" y="4790889"/>
              <a:ext cx="2201" cy="191600"/>
            </a:xfrm>
            <a:prstGeom prst="straightConnector1">
              <a:avLst/>
            </a:prstGeom>
            <a:noFill/>
            <a:ln w="12700" algn="ctr">
              <a:solidFill>
                <a:srgbClr val="00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72044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564" y="0"/>
            <a:ext cx="92768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324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811681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108</Words>
  <Application>Microsoft Office PowerPoint</Application>
  <PresentationFormat>Grand écran</PresentationFormat>
  <Paragraphs>44</Paragraphs>
  <Slides>6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Euclid Math Two</vt:lpstr>
      <vt:lpstr>Euclid Symbol</vt:lpstr>
      <vt:lpstr>Symbol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Ronan Abhervé</dc:creator>
  <cp:lastModifiedBy>Ronan Abhervé</cp:lastModifiedBy>
  <cp:revision>2</cp:revision>
  <dcterms:created xsi:type="dcterms:W3CDTF">2020-10-12T11:06:46Z</dcterms:created>
  <dcterms:modified xsi:type="dcterms:W3CDTF">2020-10-12T12:59:41Z</dcterms:modified>
</cp:coreProperties>
</file>