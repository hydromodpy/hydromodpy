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343" r:id="rId4"/>
    <p:sldId id="346" r:id="rId5"/>
    <p:sldId id="268" r:id="rId6"/>
    <p:sldId id="342" r:id="rId7"/>
    <p:sldId id="344" r:id="rId8"/>
    <p:sldId id="345" r:id="rId9"/>
  </p:sldIdLst>
  <p:sldSz cx="12192000" cy="6858000"/>
  <p:notesSz cx="6858000" cy="9144000"/>
  <p:defaultTextStyle>
    <a:defPPr>
      <a:defRPr lang="fr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775"/>
  </p:normalViewPr>
  <p:slideViewPr>
    <p:cSldViewPr snapToGrid="0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2EDC3-FF39-EC03-4CCB-A17F3F412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34C938-BD1C-91D0-D74C-0F00191A0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278657-996E-76F8-9FB3-CAAB8A30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D20C31-6A63-DF82-40E5-EA60887B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835CF-1199-AFDC-05B0-6464BAE2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8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06E07-7174-E609-EC38-93846D0E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8E43EC-E10B-F4C2-8A94-34EA5644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12C2FC-BFED-3B1E-BF96-2EA2F7C6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665DDF-13B6-9866-BC38-40FC7423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B6CECA-263B-13C8-49A6-0EEC76A8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76684-30C3-90FA-97C3-1B696175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02FC7F-BB11-A13F-B75E-844AC46AE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3CBF36-91FF-4EDA-9D13-EDD977F8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ABB7B4-B0A1-4B6D-9703-3EF95DFA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C512E-244A-0E1A-539B-6DA5D835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9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B3381-2E93-C388-4000-F46BDA0C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8480DD-F523-2B3E-E0E3-4DFE31947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574A3B-C03A-DF27-0D63-D1A1094F2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092EE1-BCF2-6C96-1B4E-DFF5D591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627BB6-9540-1893-BEBC-E67529E8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67D459-7536-DF70-5CD4-3E13B098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1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C51F4-4AD6-E4A7-0140-0D9B4FD5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69F239-E90E-0CA5-E333-28C0C25CF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980F9F-0F9F-AD15-9C92-BFDAD212E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325020-A139-43AB-15E7-65A39A84A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C7176BD-3448-87E6-C68F-4EB61E65E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875514C-2AED-91CB-52F0-F49D9732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B59D3E-84A1-F38B-76AD-71D125E7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8A22CA-94F3-3AA5-7EDE-BC85C5FD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4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71D98-8ED0-E116-8314-6992DC5B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6C19ED-FF24-E76C-B2C0-67DE4804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D87B53-32AC-BD27-A93F-367AF152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135F70-B7E3-23F7-9CD8-E1DD8E40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5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227327-A3B1-48B8-7BB9-3DD9E9B8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88D169-71C3-B64B-6B37-5E95E047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C60803-CA4B-A27C-2A08-219E0E2C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2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63260-998D-EE3F-C335-90A77F84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5376A5-E4B9-10B6-C3A8-B785CAB7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584EF4-3A1B-BF51-5F4F-FF859A791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790885-3934-1F17-3EC7-FA8898DE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815866-8417-DDA1-86AC-AC399AB7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641231-A5A3-BBAA-2F2C-3B33EF1B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55CF6E-24E1-2147-1B10-EDDBEE42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FF814BC-3D1E-D81E-122F-7D7B41329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B4EDB4-A564-64E8-ADCA-010ACC4EE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C0959A-9E75-EBA1-9DD7-5F91282E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1A78CD-6054-5D36-7C36-94C243F8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351D91-9AC0-8AAE-7EEC-60E727BE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2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E8C90-6D2A-33A8-0B81-BBD7B7EB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1027BB-3BDA-EFB3-40CD-67891E2D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7480CB-27F6-0284-A1A8-DD45D066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417255-7A3A-ADA3-FA87-AE87C993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C18E0D-6EE4-A1CE-91C9-C7785E9B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6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E7B5B0-749B-1E22-03D2-9C70F9E76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DF4108-800B-B181-9930-F26304841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DE9839-FC1D-D1A5-C039-1B9F181C9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21C32-1CDC-F427-3C8C-C4075965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D29092-2902-80EB-2710-EA566772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5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946996-FE96-75D2-F920-6198CD28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0335D-DABA-5CF7-722E-FF6F28004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2A4F69-F80F-EE17-A7B1-5AB76CA1F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DD3D4-F5A2-F74B-8112-BE23E83D4926}" type="datetimeFigureOut">
              <a:rPr lang="en-US" smtClean="0"/>
              <a:t>10/7/23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37E5BF-9701-E404-A820-733B00EB8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9B2129-5783-C5F0-80EB-539CB7BED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24902-E9A5-AD4C-8A7D-4C617B3410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9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6">
            <a:extLst>
              <a:ext uri="{FF2B5EF4-FFF2-40B4-BE49-F238E27FC236}">
                <a16:creationId xmlns:a16="http://schemas.microsoft.com/office/drawing/2014/main" id="{D7C6F70A-A7A2-2B8B-5EDC-8B10EFC8387C}"/>
              </a:ext>
            </a:extLst>
          </p:cNvPr>
          <p:cNvSpPr txBox="1"/>
          <p:nvPr/>
        </p:nvSpPr>
        <p:spPr>
          <a:xfrm>
            <a:off x="1524000" y="129368"/>
            <a:ext cx="9144000" cy="59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complex geological model into </a:t>
            </a:r>
            <a:r>
              <a:rPr lang="en-US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HydroModPy</a:t>
            </a:r>
            <a:endParaRPr lang="es-CL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EB206A0-D7B6-07F8-47AD-2274145CD4A3}"/>
              </a:ext>
            </a:extLst>
          </p:cNvPr>
          <p:cNvSpPr txBox="1"/>
          <p:nvPr/>
        </p:nvSpPr>
        <p:spPr>
          <a:xfrm>
            <a:off x="185195" y="1250066"/>
            <a:ext cx="107297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Available in </a:t>
            </a:r>
            <a:r>
              <a:rPr lang="en-US" sz="2400" dirty="0" err="1"/>
              <a:t>HydromodPy</a:t>
            </a:r>
            <a:r>
              <a:rPr lang="en-US" sz="2400" dirty="0"/>
              <a:t> for hydrodynamics 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Homogeneous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Decreasing hydraulic conductivity with depth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Horizontal layers with varying depth and hydrodynamic parameters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Vertical definition of “zones” of heterogeneities in the parameters from the surface to the bottom </a:t>
            </a:r>
          </a:p>
        </p:txBody>
      </p:sp>
      <p:sp>
        <p:nvSpPr>
          <p:cNvPr id="7" name="Flèche à angle droit 6">
            <a:extLst>
              <a:ext uri="{FF2B5EF4-FFF2-40B4-BE49-F238E27FC236}">
                <a16:creationId xmlns:a16="http://schemas.microsoft.com/office/drawing/2014/main" id="{D249AAC6-1F7A-FDF8-F6CF-711C360E19D3}"/>
              </a:ext>
            </a:extLst>
          </p:cNvPr>
          <p:cNvSpPr/>
          <p:nvPr/>
        </p:nvSpPr>
        <p:spPr>
          <a:xfrm rot="5400000">
            <a:off x="1169043" y="3724155"/>
            <a:ext cx="1504709" cy="163203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523B3B-C5C5-3D71-96E6-9E34A1D287CF}"/>
              </a:ext>
            </a:extLst>
          </p:cNvPr>
          <p:cNvSpPr txBox="1"/>
          <p:nvPr/>
        </p:nvSpPr>
        <p:spPr>
          <a:xfrm>
            <a:off x="2737413" y="4332138"/>
            <a:ext cx="9454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can we introduce a complex geological model into </a:t>
            </a:r>
            <a:r>
              <a:rPr lang="en-US" sz="2400" dirty="0" err="1"/>
              <a:t>Hydromodpy</a:t>
            </a:r>
            <a:r>
              <a:rPr lang="en-US" sz="2400" dirty="0"/>
              <a:t> that can interpret nonlinear interfaces and varying depths as well as fine-structures (fault zones, etc..)  ? </a:t>
            </a:r>
          </a:p>
        </p:txBody>
      </p:sp>
    </p:spTree>
    <p:extLst>
      <p:ext uri="{BB962C8B-B14F-4D97-AF65-F5344CB8AC3E}">
        <p14:creationId xmlns:p14="http://schemas.microsoft.com/office/powerpoint/2010/main" val="241779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6">
            <a:extLst>
              <a:ext uri="{FF2B5EF4-FFF2-40B4-BE49-F238E27FC236}">
                <a16:creationId xmlns:a16="http://schemas.microsoft.com/office/drawing/2014/main" id="{D7C6F70A-A7A2-2B8B-5EDC-8B10EFC8387C}"/>
              </a:ext>
            </a:extLst>
          </p:cNvPr>
          <p:cNvSpPr txBox="1"/>
          <p:nvPr/>
        </p:nvSpPr>
        <p:spPr>
          <a:xfrm>
            <a:off x="1524000" y="129368"/>
            <a:ext cx="9144000" cy="112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methodology behind the extrapolation of geological model to MODFLOW grid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EB206A0-D7B6-07F8-47AD-2274145CD4A3}"/>
              </a:ext>
            </a:extLst>
          </p:cNvPr>
          <p:cNvSpPr txBox="1"/>
          <p:nvPr/>
        </p:nvSpPr>
        <p:spPr>
          <a:xfrm>
            <a:off x="185195" y="1250066"/>
            <a:ext cx="107297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Loop for each cell of the MODFLOW grid: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Calculate the distance between this cell and each cell of the geological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Find the shorter distance.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Return the index of the geological model cell.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Store the index.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Flèche à angle droit 1">
            <a:extLst>
              <a:ext uri="{FF2B5EF4-FFF2-40B4-BE49-F238E27FC236}">
                <a16:creationId xmlns:a16="http://schemas.microsoft.com/office/drawing/2014/main" id="{135A199E-7488-CDD6-029D-6502C00E4873}"/>
              </a:ext>
            </a:extLst>
          </p:cNvPr>
          <p:cNvSpPr/>
          <p:nvPr/>
        </p:nvSpPr>
        <p:spPr>
          <a:xfrm rot="5400000">
            <a:off x="1404376" y="3229877"/>
            <a:ext cx="461666" cy="1055847"/>
          </a:xfrm>
          <a:prstGeom prst="bentUpArrow">
            <a:avLst>
              <a:gd name="adj1" fmla="val 8077"/>
              <a:gd name="adj2" fmla="val 25000"/>
              <a:gd name="adj3" fmla="val 311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9A94B3-050C-13AD-30D5-F75F45045D60}"/>
              </a:ext>
            </a:extLst>
          </p:cNvPr>
          <p:cNvSpPr txBox="1"/>
          <p:nvPr/>
        </p:nvSpPr>
        <p:spPr>
          <a:xfrm>
            <a:off x="2261287" y="3578121"/>
            <a:ext cx="10317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cell of the MODFLOW model is associated to a cell of the geological model</a:t>
            </a:r>
          </a:p>
          <a:p>
            <a:r>
              <a:rPr lang="en-US" sz="2400" dirty="0"/>
              <a:t>	Advantage: if parameters of geological model change, the index can be</a:t>
            </a:r>
          </a:p>
          <a:p>
            <a:r>
              <a:rPr lang="en-US" sz="2400" dirty="0"/>
              <a:t>	used again, avoiding the calculation.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5D3972C2-915B-2980-70D7-BA68EED95B6F}"/>
              </a:ext>
            </a:extLst>
          </p:cNvPr>
          <p:cNvSpPr/>
          <p:nvPr/>
        </p:nvSpPr>
        <p:spPr>
          <a:xfrm>
            <a:off x="8617109" y="5084485"/>
            <a:ext cx="252628" cy="25262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84ADB356-EDD7-3E93-2BE1-1D08753F89C5}"/>
              </a:ext>
            </a:extLst>
          </p:cNvPr>
          <p:cNvSpPr/>
          <p:nvPr/>
        </p:nvSpPr>
        <p:spPr>
          <a:xfrm>
            <a:off x="8486507" y="5089905"/>
            <a:ext cx="701426" cy="701426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0E7E3596-23CC-7901-DBEA-78A052F30276}"/>
              </a:ext>
            </a:extLst>
          </p:cNvPr>
          <p:cNvSpPr/>
          <p:nvPr/>
        </p:nvSpPr>
        <p:spPr>
          <a:xfrm>
            <a:off x="8301327" y="5084485"/>
            <a:ext cx="3249827" cy="1447295"/>
          </a:xfrm>
          <a:prstGeom prst="cub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5D705C85-25CB-F6AE-952A-5399324F9AFB}"/>
              </a:ext>
            </a:extLst>
          </p:cNvPr>
          <p:cNvSpPr/>
          <p:nvPr/>
        </p:nvSpPr>
        <p:spPr>
          <a:xfrm>
            <a:off x="358346" y="2063578"/>
            <a:ext cx="259492" cy="642552"/>
          </a:xfrm>
          <a:prstGeom prst="lef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èche à angle droit 12">
            <a:extLst>
              <a:ext uri="{FF2B5EF4-FFF2-40B4-BE49-F238E27FC236}">
                <a16:creationId xmlns:a16="http://schemas.microsoft.com/office/drawing/2014/main" id="{F1A4BE30-C8F5-D5B3-39DD-3FD7D366D936}"/>
              </a:ext>
            </a:extLst>
          </p:cNvPr>
          <p:cNvSpPr/>
          <p:nvPr/>
        </p:nvSpPr>
        <p:spPr>
          <a:xfrm rot="10800000">
            <a:off x="66955" y="2373951"/>
            <a:ext cx="259492" cy="3040374"/>
          </a:xfrm>
          <a:prstGeom prst="bentUpArrow">
            <a:avLst>
              <a:gd name="adj1" fmla="val 8077"/>
              <a:gd name="adj2" fmla="val 25000"/>
              <a:gd name="adj3" fmla="val 3115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245BF88-CFEF-59F9-DCA8-BE7E47105A21}"/>
              </a:ext>
            </a:extLst>
          </p:cNvPr>
          <p:cNvSpPr txBox="1"/>
          <p:nvPr/>
        </p:nvSpPr>
        <p:spPr>
          <a:xfrm>
            <a:off x="326448" y="5084485"/>
            <a:ext cx="7974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time consuming for bigger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Adaptation of the idea, to calculate the distance only with cells around.</a:t>
            </a:r>
          </a:p>
        </p:txBody>
      </p:sp>
    </p:spTree>
    <p:extLst>
      <p:ext uri="{BB962C8B-B14F-4D97-AF65-F5344CB8AC3E}">
        <p14:creationId xmlns:p14="http://schemas.microsoft.com/office/powerpoint/2010/main" val="22290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6">
            <a:extLst>
              <a:ext uri="{FF2B5EF4-FFF2-40B4-BE49-F238E27FC236}">
                <a16:creationId xmlns:a16="http://schemas.microsoft.com/office/drawing/2014/main" id="{D7C6F70A-A7A2-2B8B-5EDC-8B10EFC8387C}"/>
              </a:ext>
            </a:extLst>
          </p:cNvPr>
          <p:cNvSpPr txBox="1"/>
          <p:nvPr/>
        </p:nvSpPr>
        <p:spPr>
          <a:xfrm>
            <a:off x="1524000" y="129368"/>
            <a:ext cx="9144000" cy="59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use in </a:t>
            </a:r>
            <a:r>
              <a:rPr lang="en-US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HydroModPy</a:t>
            </a:r>
            <a:endParaRPr lang="en-US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EB206A0-D7B6-07F8-47AD-2274145CD4A3}"/>
              </a:ext>
            </a:extLst>
          </p:cNvPr>
          <p:cNvSpPr txBox="1"/>
          <p:nvPr/>
        </p:nvSpPr>
        <p:spPr>
          <a:xfrm>
            <a:off x="185195" y="1250066"/>
            <a:ext cx="107297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needed: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MODFLOW discretization ( DEM + depth discretization) =&gt; Directly obtained from the </a:t>
            </a:r>
            <a:r>
              <a:rPr lang="en-US" sz="2400" dirty="0" err="1"/>
              <a:t>HydroModPy</a:t>
            </a:r>
            <a:r>
              <a:rPr lang="en-US" sz="2400" dirty="0"/>
              <a:t> routine.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2 external 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24A558-341D-09AB-8A1C-E4A2D63ED062}"/>
              </a:ext>
            </a:extLst>
          </p:cNvPr>
          <p:cNvSpPr txBox="1"/>
          <p:nvPr/>
        </p:nvSpPr>
        <p:spPr>
          <a:xfrm>
            <a:off x="185195" y="3429000"/>
            <a:ext cx="319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XYZ file for the geological model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8034A5-DDFB-F359-0206-A3C52065E5DF}"/>
              </a:ext>
            </a:extLst>
          </p:cNvPr>
          <p:cNvSpPr txBox="1"/>
          <p:nvPr/>
        </p:nvSpPr>
        <p:spPr>
          <a:xfrm>
            <a:off x="7988971" y="3373724"/>
            <a:ext cx="381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txt file for the parameters of the layers</a:t>
            </a:r>
          </a:p>
        </p:txBody>
      </p:sp>
      <p:pic>
        <p:nvPicPr>
          <p:cNvPr id="16" name="Image 1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EF74F913-B465-8E14-6705-99A109DB3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411" y="3872751"/>
            <a:ext cx="3123527" cy="2433917"/>
          </a:xfrm>
          <a:prstGeom prst="rect">
            <a:avLst/>
          </a:prstGeom>
        </p:spPr>
      </p:pic>
      <p:pic>
        <p:nvPicPr>
          <p:cNvPr id="18" name="Image 17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8C096FAB-FA28-1FAD-9391-8D50A5A0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718" y="4083219"/>
            <a:ext cx="3562052" cy="2085104"/>
          </a:xfrm>
          <a:prstGeom prst="rect">
            <a:avLst/>
          </a:prstGeom>
        </p:spPr>
      </p:pic>
      <p:pic>
        <p:nvPicPr>
          <p:cNvPr id="20" name="Image 19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CD33A66E-94A0-E95E-3F8F-D3CEB0B81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" y="3872753"/>
            <a:ext cx="2196463" cy="243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3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6">
            <a:extLst>
              <a:ext uri="{FF2B5EF4-FFF2-40B4-BE49-F238E27FC236}">
                <a16:creationId xmlns:a16="http://schemas.microsoft.com/office/drawing/2014/main" id="{D7C6F70A-A7A2-2B8B-5EDC-8B10EFC8387C}"/>
              </a:ext>
            </a:extLst>
          </p:cNvPr>
          <p:cNvSpPr txBox="1"/>
          <p:nvPr/>
        </p:nvSpPr>
        <p:spPr>
          <a:xfrm>
            <a:off x="1524000" y="129368"/>
            <a:ext cx="9144000" cy="59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use in </a:t>
            </a:r>
            <a:r>
              <a:rPr lang="en-US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HydroModPy</a:t>
            </a:r>
            <a:endParaRPr lang="en-US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48AED12D-C6EA-C5D4-EFAB-904BD79C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86903"/>
            <a:ext cx="7772400" cy="31711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2A239D-571E-D81C-275F-42B1E52DEF3F}"/>
              </a:ext>
            </a:extLst>
          </p:cNvPr>
          <p:cNvSpPr/>
          <p:nvPr/>
        </p:nvSpPr>
        <p:spPr>
          <a:xfrm>
            <a:off x="5157788" y="2991915"/>
            <a:ext cx="2000250" cy="11661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BA6AEBF-9889-74A8-FF32-BA8D3CCB847B}"/>
              </a:ext>
            </a:extLst>
          </p:cNvPr>
          <p:cNvSpPr txBox="1"/>
          <p:nvPr/>
        </p:nvSpPr>
        <p:spPr>
          <a:xfrm>
            <a:off x="300942" y="4734046"/>
            <a:ext cx="11030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From_3D = True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xyz_3D : path to the </a:t>
            </a:r>
            <a:r>
              <a:rPr lang="en-US" dirty="0" err="1"/>
              <a:t>xyz</a:t>
            </a:r>
            <a:r>
              <a:rPr lang="en-US" dirty="0"/>
              <a:t> 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val_3D : path to the parameters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idx_3D : where to store the index if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ext_3D : extrapolation method (1 for indexing method; 2 for </a:t>
            </a:r>
            <a:r>
              <a:rPr lang="en-US" dirty="0" err="1"/>
              <a:t>Hatari</a:t>
            </a:r>
            <a:r>
              <a:rPr lang="en-US" dirty="0"/>
              <a:t> lab method (less efficient))</a:t>
            </a:r>
          </a:p>
        </p:txBody>
      </p:sp>
    </p:spTree>
    <p:extLst>
      <p:ext uri="{BB962C8B-B14F-4D97-AF65-F5344CB8AC3E}">
        <p14:creationId xmlns:p14="http://schemas.microsoft.com/office/powerpoint/2010/main" val="108893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36F32DAE-6CD0-031D-0B0D-ECE45F417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980" y="851219"/>
            <a:ext cx="4302929" cy="2833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Esquemático&#10;&#10;Descripción generada automáticamente con confianza media">
            <a:extLst>
              <a:ext uri="{FF2B5EF4-FFF2-40B4-BE49-F238E27FC236}">
                <a16:creationId xmlns:a16="http://schemas.microsoft.com/office/drawing/2014/main" id="{806FEA46-693A-2B70-C9C6-C4DE69B7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" y="1779518"/>
            <a:ext cx="6007269" cy="9950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4BFD877-4306-F054-7A40-25E5F6E86B25}"/>
              </a:ext>
            </a:extLst>
          </p:cNvPr>
          <p:cNvSpPr txBox="1"/>
          <p:nvPr/>
        </p:nvSpPr>
        <p:spPr>
          <a:xfrm>
            <a:off x="-8" y="0"/>
            <a:ext cx="12192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Example : Simple 2 layers fold </a:t>
            </a:r>
          </a:p>
        </p:txBody>
      </p:sp>
      <p:pic>
        <p:nvPicPr>
          <p:cNvPr id="2" name="Imagen 3">
            <a:extLst>
              <a:ext uri="{FF2B5EF4-FFF2-40B4-BE49-F238E27FC236}">
                <a16:creationId xmlns:a16="http://schemas.microsoft.com/office/drawing/2014/main" id="{56865CE2-D92D-27FC-E7CD-0A47D951828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" t="20589" r="18455" b="36020"/>
          <a:stretch/>
        </p:blipFill>
        <p:spPr bwMode="auto">
          <a:xfrm>
            <a:off x="7535119" y="4357392"/>
            <a:ext cx="4656882" cy="25006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71E4719-5B22-7E2D-C3E3-10571A253626}"/>
              </a:ext>
            </a:extLst>
          </p:cNvPr>
          <p:cNvSpPr txBox="1"/>
          <p:nvPr/>
        </p:nvSpPr>
        <p:spPr>
          <a:xfrm>
            <a:off x="155642" y="971816"/>
            <a:ext cx="338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Cross section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D714275-F7D3-678E-A266-93AFF279BC1D}"/>
              </a:ext>
            </a:extLst>
          </p:cNvPr>
          <p:cNvSpPr txBox="1"/>
          <p:nvPr/>
        </p:nvSpPr>
        <p:spPr>
          <a:xfrm>
            <a:off x="155642" y="3282251"/>
            <a:ext cx="338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Surface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88A04B-14E1-2ADB-9F49-D04B6D7A7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" y="4251554"/>
            <a:ext cx="5016706" cy="2606445"/>
          </a:xfrm>
          <a:prstGeom prst="rect">
            <a:avLst/>
          </a:prstGeom>
        </p:spPr>
      </p:pic>
      <p:pic>
        <p:nvPicPr>
          <p:cNvPr id="3" name="Imagen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77E6A69-54DF-4D16-D9B0-523AEAFDED0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40" b="6342"/>
          <a:stretch/>
        </p:blipFill>
        <p:spPr bwMode="auto">
          <a:xfrm>
            <a:off x="5016698" y="2677317"/>
            <a:ext cx="2748060" cy="22505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1031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BFD877-4306-F054-7A40-25E5F6E86B25}"/>
              </a:ext>
            </a:extLst>
          </p:cNvPr>
          <p:cNvSpPr txBox="1"/>
          <p:nvPr/>
        </p:nvSpPr>
        <p:spPr>
          <a:xfrm>
            <a:off x="-8" y="0"/>
            <a:ext cx="12192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Example : 4 layers fold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1E4719-5B22-7E2D-C3E3-10571A253626}"/>
              </a:ext>
            </a:extLst>
          </p:cNvPr>
          <p:cNvSpPr txBox="1"/>
          <p:nvPr/>
        </p:nvSpPr>
        <p:spPr>
          <a:xfrm>
            <a:off x="155642" y="971816"/>
            <a:ext cx="338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Cross section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D714275-F7D3-678E-A266-93AFF279BC1D}"/>
              </a:ext>
            </a:extLst>
          </p:cNvPr>
          <p:cNvSpPr txBox="1"/>
          <p:nvPr/>
        </p:nvSpPr>
        <p:spPr>
          <a:xfrm>
            <a:off x="155642" y="3282251"/>
            <a:ext cx="338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Surface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683F0AF-EFC6-F92B-A34E-A35951FA7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" y="3743916"/>
            <a:ext cx="5993775" cy="311408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9173682-412E-3231-B6A7-F3FD58970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8394"/>
            <a:ext cx="8122544" cy="134681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5B4431E-8131-1FBE-A90A-C429042E4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299" y="1548394"/>
            <a:ext cx="3858059" cy="530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4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BFD877-4306-F054-7A40-25E5F6E86B25}"/>
              </a:ext>
            </a:extLst>
          </p:cNvPr>
          <p:cNvSpPr txBox="1"/>
          <p:nvPr/>
        </p:nvSpPr>
        <p:spPr>
          <a:xfrm>
            <a:off x="-8" y="0"/>
            <a:ext cx="12192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(Real) Example : </a:t>
            </a:r>
            <a:r>
              <a:rPr lang="en-US" sz="3200" dirty="0" err="1"/>
              <a:t>Guidel</a:t>
            </a:r>
            <a:r>
              <a:rPr lang="en-US" sz="3200" dirty="0"/>
              <a:t> case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34EC72-C8C6-97D4-B1D5-E12A3C8C6DD2}"/>
              </a:ext>
            </a:extLst>
          </p:cNvPr>
          <p:cNvSpPr txBox="1"/>
          <p:nvPr/>
        </p:nvSpPr>
        <p:spPr>
          <a:xfrm>
            <a:off x="255494" y="874059"/>
            <a:ext cx="5136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Starting point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3D geological model (XYZ file)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Gauging station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BD Alti 25m DEM 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018C9FFF-A0D7-AC8F-2B1C-8C046D6F5EBC}"/>
              </a:ext>
            </a:extLst>
          </p:cNvPr>
          <p:cNvCxnSpPr>
            <a:cxnSpLocks/>
          </p:cNvCxnSpPr>
          <p:nvPr/>
        </p:nvCxnSpPr>
        <p:spPr>
          <a:xfrm>
            <a:off x="1707776" y="3052482"/>
            <a:ext cx="0" cy="9816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E17BBF1-73B9-420E-1720-7BF34C185508}"/>
              </a:ext>
            </a:extLst>
          </p:cNvPr>
          <p:cNvSpPr txBox="1"/>
          <p:nvPr/>
        </p:nvSpPr>
        <p:spPr>
          <a:xfrm>
            <a:off x="1896036" y="3244334"/>
            <a:ext cx="221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HydroModPy</a:t>
            </a:r>
            <a:endParaRPr lang="en-US" sz="24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9A3B6E5-0B10-FE65-A8F0-E2043E60CB32}"/>
              </a:ext>
            </a:extLst>
          </p:cNvPr>
          <p:cNvSpPr txBox="1"/>
          <p:nvPr/>
        </p:nvSpPr>
        <p:spPr>
          <a:xfrm>
            <a:off x="255494" y="4506614"/>
            <a:ext cx="5136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 catchment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Geological extrapolation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Groundwater flow model </a:t>
            </a:r>
          </a:p>
        </p:txBody>
      </p:sp>
      <p:pic>
        <p:nvPicPr>
          <p:cNvPr id="15" name="Image 14" descr="Une image contenant carte, capture d’écran, diagramme&#10;&#10;Description générée automatiquement">
            <a:extLst>
              <a:ext uri="{FF2B5EF4-FFF2-40B4-BE49-F238E27FC236}">
                <a16:creationId xmlns:a16="http://schemas.microsoft.com/office/drawing/2014/main" id="{7BC07FA0-5676-CC99-DD96-889A7CCD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271" y="4112831"/>
            <a:ext cx="3680011" cy="2745169"/>
          </a:xfrm>
          <a:prstGeom prst="rect">
            <a:avLst/>
          </a:prstGeom>
        </p:spPr>
      </p:pic>
      <p:pic>
        <p:nvPicPr>
          <p:cNvPr id="17" name="Image 16" descr="Une image contenant capture d’écran, Caractère coloré, conception&#10;&#10;Description générée automatiquement">
            <a:extLst>
              <a:ext uri="{FF2B5EF4-FFF2-40B4-BE49-F238E27FC236}">
                <a16:creationId xmlns:a16="http://schemas.microsoft.com/office/drawing/2014/main" id="{97E36EC7-C15F-C34D-2769-97E94465B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271" y="634006"/>
            <a:ext cx="2881406" cy="21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8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BFD877-4306-F054-7A40-25E5F6E86B25}"/>
              </a:ext>
            </a:extLst>
          </p:cNvPr>
          <p:cNvSpPr txBox="1"/>
          <p:nvPr/>
        </p:nvSpPr>
        <p:spPr>
          <a:xfrm>
            <a:off x="-8" y="0"/>
            <a:ext cx="121920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(Real) Example : </a:t>
            </a:r>
            <a:r>
              <a:rPr lang="en-US" sz="3200" dirty="0" err="1"/>
              <a:t>Guidel</a:t>
            </a:r>
            <a:r>
              <a:rPr lang="en-US" sz="3200" dirty="0"/>
              <a:t> case</a:t>
            </a:r>
          </a:p>
          <a:p>
            <a:pPr algn="ctr"/>
            <a:r>
              <a:rPr lang="en-US" sz="3200" dirty="0"/>
              <a:t>Geological extrapolation results</a:t>
            </a:r>
          </a:p>
        </p:txBody>
      </p:sp>
      <p:pic>
        <p:nvPicPr>
          <p:cNvPr id="4" name="Image 3" descr="Une image contenant capture d’écran, ligne, Tracé, Caractère coloré&#10;&#10;Description générée automatiquement">
            <a:extLst>
              <a:ext uri="{FF2B5EF4-FFF2-40B4-BE49-F238E27FC236}">
                <a16:creationId xmlns:a16="http://schemas.microsoft.com/office/drawing/2014/main" id="{1F3EE380-193A-931C-8A29-52536952B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5" y="1064040"/>
            <a:ext cx="7772400" cy="2399463"/>
          </a:xfrm>
          <a:prstGeom prst="rect">
            <a:avLst/>
          </a:prstGeom>
        </p:spPr>
      </p:pic>
      <p:pic>
        <p:nvPicPr>
          <p:cNvPr id="6" name="Image 5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2417EBA4-319A-4E96-0F67-3F6484F9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" y="3466630"/>
            <a:ext cx="5531379" cy="3391370"/>
          </a:xfrm>
          <a:prstGeom prst="rect">
            <a:avLst/>
          </a:prstGeom>
        </p:spPr>
      </p:pic>
      <p:pic>
        <p:nvPicPr>
          <p:cNvPr id="10" name="Image 9" descr="Une image contenant carte&#10;&#10;Description générée automatiquement">
            <a:extLst>
              <a:ext uri="{FF2B5EF4-FFF2-40B4-BE49-F238E27FC236}">
                <a16:creationId xmlns:a16="http://schemas.microsoft.com/office/drawing/2014/main" id="{19405B11-B256-050C-216D-C22584EB8F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575"/>
          <a:stretch/>
        </p:blipFill>
        <p:spPr>
          <a:xfrm>
            <a:off x="6737787" y="3463503"/>
            <a:ext cx="5454212" cy="33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972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347</Words>
  <Application>Microsoft Macintosh PowerPoint</Application>
  <PresentationFormat>Grand écran</PresentationFormat>
  <Paragraphs>49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Etienne Marti</dc:creator>
  <cp:lastModifiedBy>Etienne Marti</cp:lastModifiedBy>
  <cp:revision>8</cp:revision>
  <dcterms:created xsi:type="dcterms:W3CDTF">2023-10-06T14:33:55Z</dcterms:created>
  <dcterms:modified xsi:type="dcterms:W3CDTF">2023-10-10T13:30:09Z</dcterms:modified>
</cp:coreProperties>
</file>